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8288000" cy="10287000"/>
  <p:notesSz cx="6858000" cy="9144000"/>
  <p:embeddedFontLst>
    <p:embeddedFont>
      <p:font typeface="Be Vietnam" panose="020B0604020202020204" charset="0"/>
      <p:regular r:id="rId14"/>
    </p:embeddedFont>
    <p:embeddedFont>
      <p:font typeface="Be Vietnam Italics" panose="020B0604020202020204" charset="0"/>
      <p:regular r:id="rId15"/>
    </p:embeddedFont>
    <p:embeddedFont>
      <p:font typeface="Be Vietnam Ultra-Bold" panose="020B0604020202020204" charset="0"/>
      <p:regular r:id="rId16"/>
    </p:embeddedFont>
    <p:embeddedFont>
      <p:font typeface="Be Vietnam Ultra-Bold Italics" panose="020B0604020202020204" charset="0"/>
      <p:regular r:id="rId17"/>
    </p:embeddedFont>
    <p:embeddedFont>
      <p:font typeface="Canva Sans" panose="020B0604020202020204" charset="0"/>
      <p:regular r:id="rId18"/>
    </p:embeddedFont>
    <p:embeddedFont>
      <p:font typeface="Canva Sans Bold" panose="020B0604020202020204" charset="0"/>
      <p:regular r:id="rId19"/>
    </p:embeddedFont>
    <p:embeddedFont>
      <p:font typeface="Canva Sans Italics" panose="020B0604020202020204" charset="0"/>
      <p:regular r:id="rId20"/>
    </p:embeddedFont>
    <p:embeddedFont>
      <p:font typeface="Public Sans Heavy"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8" d="100"/>
          <a:sy n="68" d="100"/>
        </p:scale>
        <p:origin x="380" y="8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7/2/2026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9.svg"/><Relationship Id="rId1" Type="http://schemas.openxmlformats.org/officeDocument/2006/relationships/slideLayout" Target="../slideLayouts/slideLayout7.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13.sv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1.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7.svg"/><Relationship Id="rId1" Type="http://schemas.openxmlformats.org/officeDocument/2006/relationships/slideLayout" Target="../slideLayouts/slideLayout7.xml"/><Relationship Id="rId5" Type="http://schemas.openxmlformats.org/officeDocument/2006/relationships/image" Target="../media/image22.svg"/><Relationship Id="rId4" Type="http://schemas.openxmlformats.org/officeDocument/2006/relationships/image" Target="../media/image21.svg"/></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7.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sv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8.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6403972" y="-2159618"/>
            <a:ext cx="14079417" cy="140794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047860" y="-429589"/>
            <a:ext cx="10854383" cy="108543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311514" y="4370314"/>
            <a:ext cx="7772221" cy="5567736"/>
          </a:xfrm>
          <a:custGeom>
            <a:avLst/>
            <a:gdLst/>
            <a:ahLst/>
            <a:cxnLst/>
            <a:rect l="l" t="t" r="r" b="b"/>
            <a:pathLst>
              <a:path w="7772221" h="5567736">
                <a:moveTo>
                  <a:pt x="7772221" y="0"/>
                </a:moveTo>
                <a:lnTo>
                  <a:pt x="0" y="0"/>
                </a:lnTo>
                <a:lnTo>
                  <a:pt x="0" y="5567736"/>
                </a:lnTo>
                <a:lnTo>
                  <a:pt x="7772221" y="5567736"/>
                </a:lnTo>
                <a:lnTo>
                  <a:pt x="777222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9" name="Group 9"/>
          <p:cNvGrpSpPr/>
          <p:nvPr/>
        </p:nvGrpSpPr>
        <p:grpSpPr>
          <a:xfrm>
            <a:off x="2324199" y="-283692"/>
            <a:ext cx="14200368" cy="5338617"/>
            <a:chOff x="0" y="0"/>
            <a:chExt cx="18933824" cy="7118156"/>
          </a:xfrm>
        </p:grpSpPr>
        <p:sp>
          <p:nvSpPr>
            <p:cNvPr id="10" name="TextBox 10"/>
            <p:cNvSpPr txBox="1"/>
            <p:nvPr/>
          </p:nvSpPr>
          <p:spPr>
            <a:xfrm>
              <a:off x="0" y="276225"/>
              <a:ext cx="11952866" cy="2878846"/>
            </a:xfrm>
            <a:prstGeom prst="rect">
              <a:avLst/>
            </a:prstGeom>
          </p:spPr>
          <p:txBody>
            <a:bodyPr lIns="0" tIns="0" rIns="0" bIns="0" rtlCol="0" anchor="t">
              <a:spAutoFit/>
            </a:bodyPr>
            <a:lstStyle/>
            <a:p>
              <a:pPr algn="r">
                <a:lnSpc>
                  <a:spcPts val="15536"/>
                </a:lnSpc>
              </a:pPr>
              <a:r>
                <a:rPr lang="en-US" sz="15536" b="1" spc="-388">
                  <a:solidFill>
                    <a:srgbClr val="CCC9C9">
                      <a:alpha val="49804"/>
                    </a:srgbClr>
                  </a:solidFill>
                  <a:latin typeface="Public Sans Heavy"/>
                  <a:ea typeface="Public Sans Heavy"/>
                  <a:cs typeface="Public Sans Heavy"/>
                  <a:sym typeface="Public Sans Heavy"/>
                </a:rPr>
                <a:t>VIRTUAL</a:t>
              </a:r>
            </a:p>
          </p:txBody>
        </p:sp>
        <p:sp>
          <p:nvSpPr>
            <p:cNvPr id="11" name="TextBox 11"/>
            <p:cNvSpPr txBox="1"/>
            <p:nvPr/>
          </p:nvSpPr>
          <p:spPr>
            <a:xfrm>
              <a:off x="3361602" y="2223121"/>
              <a:ext cx="11779723" cy="2878846"/>
            </a:xfrm>
            <a:prstGeom prst="rect">
              <a:avLst/>
            </a:prstGeom>
          </p:spPr>
          <p:txBody>
            <a:bodyPr lIns="0" tIns="0" rIns="0" bIns="0" rtlCol="0" anchor="t">
              <a:spAutoFit/>
            </a:bodyPr>
            <a:lstStyle/>
            <a:p>
              <a:pPr algn="l">
                <a:lnSpc>
                  <a:spcPts val="15536"/>
                </a:lnSpc>
              </a:pPr>
              <a:r>
                <a:rPr lang="en-US" sz="15536" b="1" spc="-388">
                  <a:solidFill>
                    <a:srgbClr val="CCC9C9">
                      <a:alpha val="49804"/>
                    </a:srgbClr>
                  </a:solidFill>
                  <a:latin typeface="Public Sans Heavy"/>
                  <a:ea typeface="Public Sans Heavy"/>
                  <a:cs typeface="Public Sans Heavy"/>
                  <a:sym typeface="Public Sans Heavy"/>
                </a:rPr>
                <a:t>REALITY</a:t>
              </a:r>
            </a:p>
          </p:txBody>
        </p:sp>
        <p:sp>
          <p:nvSpPr>
            <p:cNvPr id="12" name="TextBox 12"/>
            <p:cNvSpPr txBox="1"/>
            <p:nvPr/>
          </p:nvSpPr>
          <p:spPr>
            <a:xfrm>
              <a:off x="5183418" y="4239310"/>
              <a:ext cx="13750406" cy="2878846"/>
            </a:xfrm>
            <a:prstGeom prst="rect">
              <a:avLst/>
            </a:prstGeom>
          </p:spPr>
          <p:txBody>
            <a:bodyPr lIns="0" tIns="0" rIns="0" bIns="0" rtlCol="0" anchor="t">
              <a:spAutoFit/>
            </a:bodyPr>
            <a:lstStyle/>
            <a:p>
              <a:pPr algn="l">
                <a:lnSpc>
                  <a:spcPts val="15536"/>
                </a:lnSpc>
              </a:pPr>
              <a:r>
                <a:rPr lang="en-US" sz="15536" b="1" spc="-388">
                  <a:solidFill>
                    <a:srgbClr val="CCC9C9">
                      <a:alpha val="49804"/>
                    </a:srgbClr>
                  </a:solidFill>
                  <a:latin typeface="Public Sans Heavy"/>
                  <a:ea typeface="Public Sans Heavy"/>
                  <a:cs typeface="Public Sans Heavy"/>
                  <a:sym typeface="Public Sans Heavy"/>
                </a:rPr>
                <a:t>LEARNING</a:t>
              </a:r>
            </a:p>
          </p:txBody>
        </p:sp>
      </p:grpSp>
      <p:sp>
        <p:nvSpPr>
          <p:cNvPr id="13" name="TextBox 13"/>
          <p:cNvSpPr txBox="1"/>
          <p:nvPr/>
        </p:nvSpPr>
        <p:spPr>
          <a:xfrm>
            <a:off x="5169175" y="5286375"/>
            <a:ext cx="12724490" cy="1137285"/>
          </a:xfrm>
          <a:prstGeom prst="rect">
            <a:avLst/>
          </a:prstGeom>
        </p:spPr>
        <p:txBody>
          <a:bodyPr lIns="0" tIns="0" rIns="0" bIns="0" rtlCol="0" anchor="t">
            <a:spAutoFit/>
          </a:bodyPr>
          <a:lstStyle/>
          <a:p>
            <a:pPr marL="0" lvl="0" indent="0" algn="l">
              <a:lnSpc>
                <a:spcPts val="8400"/>
              </a:lnSpc>
              <a:spcBef>
                <a:spcPct val="0"/>
              </a:spcBef>
            </a:pPr>
            <a:r>
              <a:rPr lang="en-US" sz="8400" b="1" u="none" strike="noStrike" spc="-210">
                <a:solidFill>
                  <a:srgbClr val="262626"/>
                </a:solidFill>
                <a:latin typeface="Public Sans Heavy"/>
                <a:ea typeface="Public Sans Heavy"/>
                <a:cs typeface="Public Sans Heavy"/>
                <a:sym typeface="Public Sans Heavy"/>
              </a:rPr>
              <a:t>KIDNEY VISUALIZATION</a:t>
            </a:r>
          </a:p>
        </p:txBody>
      </p:sp>
      <p:sp>
        <p:nvSpPr>
          <p:cNvPr id="14" name="TextBox 14"/>
          <p:cNvSpPr txBox="1"/>
          <p:nvPr/>
        </p:nvSpPr>
        <p:spPr>
          <a:xfrm>
            <a:off x="12568702" y="8129905"/>
            <a:ext cx="10312804" cy="2294889"/>
          </a:xfrm>
          <a:prstGeom prst="rect">
            <a:avLst/>
          </a:prstGeom>
        </p:spPr>
        <p:txBody>
          <a:bodyPr lIns="0" tIns="0" rIns="0" bIns="0" rtlCol="0" anchor="t">
            <a:spAutoFit/>
          </a:bodyPr>
          <a:lstStyle/>
          <a:p>
            <a:pPr algn="l">
              <a:lnSpc>
                <a:spcPts val="2599"/>
              </a:lnSpc>
            </a:pPr>
            <a:r>
              <a:rPr lang="en-US" sz="2599" b="1" spc="-64">
                <a:solidFill>
                  <a:srgbClr val="000000">
                    <a:alpha val="49804"/>
                  </a:srgbClr>
                </a:solidFill>
                <a:latin typeface="Public Sans Heavy"/>
                <a:ea typeface="Public Sans Heavy"/>
                <a:cs typeface="Public Sans Heavy"/>
                <a:sym typeface="Public Sans Heavy"/>
              </a:rPr>
              <a:t>PRESENTED  BY</a:t>
            </a:r>
          </a:p>
          <a:p>
            <a:pPr algn="l">
              <a:lnSpc>
                <a:spcPts val="2599"/>
              </a:lnSpc>
            </a:pPr>
            <a:r>
              <a:rPr lang="en-US" sz="2599" b="1" spc="-64">
                <a:solidFill>
                  <a:srgbClr val="000000">
                    <a:alpha val="49804"/>
                  </a:srgbClr>
                </a:solidFill>
                <a:latin typeface="Public Sans Heavy"/>
                <a:ea typeface="Public Sans Heavy"/>
                <a:cs typeface="Public Sans Heavy"/>
                <a:sym typeface="Public Sans Heavy"/>
              </a:rPr>
              <a:t>ATIKA ABID (01-134222-032)</a:t>
            </a:r>
          </a:p>
          <a:p>
            <a:pPr algn="l">
              <a:lnSpc>
                <a:spcPts val="2599"/>
              </a:lnSpc>
            </a:pPr>
            <a:r>
              <a:rPr lang="en-US" sz="2599" b="1" spc="-64">
                <a:solidFill>
                  <a:srgbClr val="000000">
                    <a:alpha val="49804"/>
                  </a:srgbClr>
                </a:solidFill>
                <a:latin typeface="Public Sans Heavy"/>
                <a:ea typeface="Public Sans Heavy"/>
                <a:cs typeface="Public Sans Heavy"/>
                <a:sym typeface="Public Sans Heavy"/>
              </a:rPr>
              <a:t>AREEBA AMIN (01-134222-028)</a:t>
            </a:r>
          </a:p>
          <a:p>
            <a:pPr algn="l">
              <a:lnSpc>
                <a:spcPts val="2599"/>
              </a:lnSpc>
            </a:pPr>
            <a:endParaRPr lang="en-US" sz="2599" b="1" spc="-64">
              <a:solidFill>
                <a:srgbClr val="000000">
                  <a:alpha val="49804"/>
                </a:srgbClr>
              </a:solidFill>
              <a:latin typeface="Public Sans Heavy"/>
              <a:ea typeface="Public Sans Heavy"/>
              <a:cs typeface="Public Sans Heavy"/>
              <a:sym typeface="Public Sans Heavy"/>
            </a:endParaRPr>
          </a:p>
          <a:p>
            <a:pPr algn="l">
              <a:lnSpc>
                <a:spcPts val="2599"/>
              </a:lnSpc>
            </a:pPr>
            <a:r>
              <a:rPr lang="en-US" sz="2599" b="1" spc="-64">
                <a:solidFill>
                  <a:srgbClr val="000000">
                    <a:alpha val="49804"/>
                  </a:srgbClr>
                </a:solidFill>
                <a:latin typeface="Public Sans Heavy"/>
                <a:ea typeface="Public Sans Heavy"/>
                <a:cs typeface="Public Sans Heavy"/>
                <a:sym typeface="Public Sans Heavy"/>
              </a:rPr>
              <a:t>SUPERVISOR</a:t>
            </a:r>
          </a:p>
          <a:p>
            <a:pPr algn="l">
              <a:lnSpc>
                <a:spcPts val="2599"/>
              </a:lnSpc>
            </a:pPr>
            <a:r>
              <a:rPr lang="en-US" sz="2599" b="1" spc="-64">
                <a:solidFill>
                  <a:srgbClr val="000000">
                    <a:alpha val="49804"/>
                  </a:srgbClr>
                </a:solidFill>
                <a:latin typeface="Public Sans Heavy"/>
                <a:ea typeface="Public Sans Heavy"/>
                <a:cs typeface="Public Sans Heavy"/>
                <a:sym typeface="Public Sans Heavy"/>
              </a:rPr>
              <a:t>DR. MUHAMMAD ASFAND-E-YAR</a:t>
            </a:r>
          </a:p>
          <a:p>
            <a:pPr algn="l">
              <a:lnSpc>
                <a:spcPts val="2599"/>
              </a:lnSpc>
            </a:pPr>
            <a:endParaRPr lang="en-US" sz="2599" b="1" spc="-64">
              <a:solidFill>
                <a:srgbClr val="000000">
                  <a:alpha val="49804"/>
                </a:srgbClr>
              </a:solidFill>
              <a:latin typeface="Public Sans Heavy"/>
              <a:ea typeface="Public Sans Heavy"/>
              <a:cs typeface="Public Sans Heavy"/>
              <a:sym typeface="Public Sans Heavy"/>
            </a:endParaRPr>
          </a:p>
        </p:txBody>
      </p:sp>
      <p:sp>
        <p:nvSpPr>
          <p:cNvPr id="15" name="TextBox 15"/>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779244" y="2765246"/>
            <a:ext cx="8920378" cy="2091490"/>
          </a:xfrm>
          <a:prstGeom prst="rect">
            <a:avLst/>
          </a:prstGeom>
        </p:spPr>
        <p:txBody>
          <a:bodyPr lIns="0" tIns="0" rIns="0" bIns="0" rtlCol="0" anchor="t">
            <a:spAutoFit/>
          </a:bodyPr>
          <a:lstStyle/>
          <a:p>
            <a:pPr algn="r">
              <a:lnSpc>
                <a:spcPts val="15536"/>
              </a:lnSpc>
            </a:pPr>
            <a:r>
              <a:rPr lang="en-US" sz="15536" b="1" spc="-388">
                <a:solidFill>
                  <a:srgbClr val="FFFFFF">
                    <a:alpha val="37647"/>
                  </a:srgbClr>
                </a:solidFill>
                <a:latin typeface="Public Sans Heavy"/>
                <a:ea typeface="Public Sans Heavy"/>
                <a:cs typeface="Public Sans Heavy"/>
                <a:sym typeface="Public Sans Heavy"/>
              </a:rPr>
              <a:t>VIRTUAL</a:t>
            </a:r>
          </a:p>
        </p:txBody>
      </p:sp>
      <p:grpSp>
        <p:nvGrpSpPr>
          <p:cNvPr id="3" name="Group 3"/>
          <p:cNvGrpSpPr/>
          <p:nvPr/>
        </p:nvGrpSpPr>
        <p:grpSpPr>
          <a:xfrm>
            <a:off x="4754516" y="3309439"/>
            <a:ext cx="9102815" cy="9102815"/>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5" name="TextBox 5"/>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003122" y="3719968"/>
            <a:ext cx="8281757" cy="828175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11814353" y="4116311"/>
            <a:ext cx="1426240" cy="142624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DAA40"/>
              </a:solidFill>
              <a:prstDash val="solid"/>
              <a:miter/>
            </a:ln>
          </p:spPr>
          <p:txBody>
            <a:bodyPr/>
            <a:lstStyle/>
            <a:p>
              <a:endParaRPr lang="en-US"/>
            </a:p>
          </p:txBody>
        </p:sp>
        <p:sp>
          <p:nvSpPr>
            <p:cNvPr id="11" name="TextBox 11"/>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12" name="Group 12"/>
          <p:cNvGrpSpPr/>
          <p:nvPr/>
        </p:nvGrpSpPr>
        <p:grpSpPr>
          <a:xfrm>
            <a:off x="430280" y="7002542"/>
            <a:ext cx="1426240" cy="142624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DAA40"/>
              </a:solidFill>
              <a:prstDash val="solid"/>
              <a:miter/>
            </a:ln>
          </p:spPr>
          <p:txBody>
            <a:bodyPr/>
            <a:lstStyle/>
            <a:p>
              <a:endParaRPr lang="en-US"/>
            </a:p>
          </p:txBody>
        </p:sp>
        <p:sp>
          <p:nvSpPr>
            <p:cNvPr id="14" name="TextBox 14"/>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1927649" y="4229607"/>
            <a:ext cx="1199647" cy="119964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AA40"/>
            </a:solidFill>
          </p:spPr>
          <p:txBody>
            <a:bodyPr/>
            <a:lstStyle/>
            <a:p>
              <a:endParaRPr lang="en-US"/>
            </a:p>
          </p:txBody>
        </p:sp>
        <p:sp>
          <p:nvSpPr>
            <p:cNvPr id="17" name="TextBox 17"/>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543576" y="7121964"/>
            <a:ext cx="1199647" cy="1199647"/>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AA40"/>
            </a:solidFill>
          </p:spPr>
          <p:txBody>
            <a:bodyPr/>
            <a:lstStyle/>
            <a:p>
              <a:endParaRPr lang="en-US"/>
            </a:p>
          </p:txBody>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flipH="1">
            <a:off x="5918347" y="3907500"/>
            <a:ext cx="6918081" cy="6352056"/>
          </a:xfrm>
          <a:custGeom>
            <a:avLst/>
            <a:gdLst/>
            <a:ahLst/>
            <a:cxnLst/>
            <a:rect l="l" t="t" r="r" b="b"/>
            <a:pathLst>
              <a:path w="6918081" h="6352056">
                <a:moveTo>
                  <a:pt x="6918081" y="0"/>
                </a:moveTo>
                <a:lnTo>
                  <a:pt x="0" y="0"/>
                </a:lnTo>
                <a:lnTo>
                  <a:pt x="0" y="6352056"/>
                </a:lnTo>
                <a:lnTo>
                  <a:pt x="6918081" y="6352056"/>
                </a:lnTo>
                <a:lnTo>
                  <a:pt x="6918081"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22" name="Group 22"/>
          <p:cNvGrpSpPr/>
          <p:nvPr/>
        </p:nvGrpSpPr>
        <p:grpSpPr>
          <a:xfrm>
            <a:off x="12560423" y="6942726"/>
            <a:ext cx="5594930" cy="1497265"/>
            <a:chOff x="0" y="0"/>
            <a:chExt cx="7459906" cy="1996353"/>
          </a:xfrm>
        </p:grpSpPr>
        <p:grpSp>
          <p:nvGrpSpPr>
            <p:cNvPr id="23" name="Group 23"/>
            <p:cNvGrpSpPr/>
            <p:nvPr/>
          </p:nvGrpSpPr>
          <p:grpSpPr>
            <a:xfrm>
              <a:off x="1379464" y="810223"/>
              <a:ext cx="6080442" cy="1171186"/>
              <a:chOff x="0" y="0"/>
              <a:chExt cx="1201075" cy="231345"/>
            </a:xfrm>
          </p:grpSpPr>
          <p:sp>
            <p:nvSpPr>
              <p:cNvPr id="24" name="Freeform 24"/>
              <p:cNvSpPr/>
              <p:nvPr/>
            </p:nvSpPr>
            <p:spPr>
              <a:xfrm>
                <a:off x="0" y="0"/>
                <a:ext cx="1201075" cy="231345"/>
              </a:xfrm>
              <a:custGeom>
                <a:avLst/>
                <a:gdLst/>
                <a:ahLst/>
                <a:cxnLst/>
                <a:rect l="l" t="t" r="r" b="b"/>
                <a:pathLst>
                  <a:path w="1201075" h="231345">
                    <a:moveTo>
                      <a:pt x="16977" y="0"/>
                    </a:moveTo>
                    <a:lnTo>
                      <a:pt x="1184098" y="0"/>
                    </a:lnTo>
                    <a:cubicBezTo>
                      <a:pt x="1188601" y="0"/>
                      <a:pt x="1192919" y="1789"/>
                      <a:pt x="1196103" y="4972"/>
                    </a:cubicBezTo>
                    <a:cubicBezTo>
                      <a:pt x="1199286" y="8156"/>
                      <a:pt x="1201075" y="12474"/>
                      <a:pt x="1201075" y="16977"/>
                    </a:cubicBezTo>
                    <a:lnTo>
                      <a:pt x="1201075" y="214369"/>
                    </a:lnTo>
                    <a:cubicBezTo>
                      <a:pt x="1201075" y="218871"/>
                      <a:pt x="1199286" y="223189"/>
                      <a:pt x="1196103" y="226373"/>
                    </a:cubicBezTo>
                    <a:cubicBezTo>
                      <a:pt x="1192919" y="229557"/>
                      <a:pt x="1188601" y="231345"/>
                      <a:pt x="1184098" y="231345"/>
                    </a:cubicBezTo>
                    <a:lnTo>
                      <a:pt x="16977" y="231345"/>
                    </a:lnTo>
                    <a:cubicBezTo>
                      <a:pt x="12474" y="231345"/>
                      <a:pt x="8156" y="229557"/>
                      <a:pt x="4972" y="226373"/>
                    </a:cubicBezTo>
                    <a:cubicBezTo>
                      <a:pt x="1789" y="223189"/>
                      <a:pt x="0" y="218871"/>
                      <a:pt x="0" y="214369"/>
                    </a:cubicBezTo>
                    <a:lnTo>
                      <a:pt x="0" y="16977"/>
                    </a:lnTo>
                    <a:cubicBezTo>
                      <a:pt x="0" y="12474"/>
                      <a:pt x="1789" y="8156"/>
                      <a:pt x="4972" y="4972"/>
                    </a:cubicBezTo>
                    <a:cubicBezTo>
                      <a:pt x="8156" y="1789"/>
                      <a:pt x="12474" y="0"/>
                      <a:pt x="16977" y="0"/>
                    </a:cubicBezTo>
                    <a:close/>
                  </a:path>
                </a:pathLst>
              </a:custGeom>
              <a:solidFill>
                <a:srgbClr val="383686"/>
              </a:solidFill>
            </p:spPr>
            <p:txBody>
              <a:bodyPr/>
              <a:lstStyle/>
              <a:p>
                <a:endParaRPr lang="en-US"/>
              </a:p>
            </p:txBody>
          </p:sp>
          <p:sp>
            <p:nvSpPr>
              <p:cNvPr id="25" name="TextBox 25"/>
              <p:cNvSpPr txBox="1"/>
              <p:nvPr/>
            </p:nvSpPr>
            <p:spPr>
              <a:xfrm>
                <a:off x="0" y="-28575"/>
                <a:ext cx="1201075" cy="259920"/>
              </a:xfrm>
              <a:prstGeom prst="rect">
                <a:avLst/>
              </a:prstGeom>
            </p:spPr>
            <p:txBody>
              <a:bodyPr lIns="50800" tIns="50800" rIns="50800" bIns="50800" rtlCol="0" anchor="ctr"/>
              <a:lstStyle/>
              <a:p>
                <a:pPr algn="ctr">
                  <a:lnSpc>
                    <a:spcPts val="2659"/>
                  </a:lnSpc>
                </a:pPr>
                <a:r>
                  <a:rPr lang="en-US" sz="1899">
                    <a:solidFill>
                      <a:srgbClr val="FFFFFF"/>
                    </a:solidFill>
                    <a:latin typeface="Be Vietnam"/>
                    <a:ea typeface="Be Vietnam"/>
                    <a:cs typeface="Be Vietnam"/>
                    <a:sym typeface="Be Vietnam"/>
                  </a:rPr>
                  <a:t>explore, manipulate, and understand the human body in different ways</a:t>
                </a:r>
              </a:p>
            </p:txBody>
          </p:sp>
        </p:grpSp>
        <p:sp>
          <p:nvSpPr>
            <p:cNvPr id="26" name="Freeform 26"/>
            <p:cNvSpPr/>
            <p:nvPr/>
          </p:nvSpPr>
          <p:spPr>
            <a:xfrm>
              <a:off x="0" y="0"/>
              <a:ext cx="1770489" cy="1996353"/>
            </a:xfrm>
            <a:custGeom>
              <a:avLst/>
              <a:gdLst/>
              <a:ahLst/>
              <a:cxnLst/>
              <a:rect l="l" t="t" r="r" b="b"/>
              <a:pathLst>
                <a:path w="1770489" h="1996353">
                  <a:moveTo>
                    <a:pt x="0" y="0"/>
                  </a:moveTo>
                  <a:lnTo>
                    <a:pt x="1770489" y="0"/>
                  </a:lnTo>
                  <a:lnTo>
                    <a:pt x="1770489" y="1996353"/>
                  </a:lnTo>
                  <a:lnTo>
                    <a:pt x="0" y="199635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sp>
        <p:nvSpPr>
          <p:cNvPr id="27" name="Freeform 27"/>
          <p:cNvSpPr/>
          <p:nvPr/>
        </p:nvSpPr>
        <p:spPr>
          <a:xfrm>
            <a:off x="12251589" y="4547403"/>
            <a:ext cx="596097" cy="596097"/>
          </a:xfrm>
          <a:custGeom>
            <a:avLst/>
            <a:gdLst/>
            <a:ahLst/>
            <a:cxnLst/>
            <a:rect l="l" t="t" r="r" b="b"/>
            <a:pathLst>
              <a:path w="596097" h="596097">
                <a:moveTo>
                  <a:pt x="0" y="0"/>
                </a:moveTo>
                <a:lnTo>
                  <a:pt x="596097" y="0"/>
                </a:lnTo>
                <a:lnTo>
                  <a:pt x="596097" y="596097"/>
                </a:lnTo>
                <a:lnTo>
                  <a:pt x="0" y="5960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8" name="Freeform 28"/>
          <p:cNvSpPr/>
          <p:nvPr/>
        </p:nvSpPr>
        <p:spPr>
          <a:xfrm rot="5400000">
            <a:off x="957349" y="7372287"/>
            <a:ext cx="372101" cy="728312"/>
          </a:xfrm>
          <a:custGeom>
            <a:avLst/>
            <a:gdLst/>
            <a:ahLst/>
            <a:cxnLst/>
            <a:rect l="l" t="t" r="r" b="b"/>
            <a:pathLst>
              <a:path w="372101" h="728312">
                <a:moveTo>
                  <a:pt x="0" y="0"/>
                </a:moveTo>
                <a:lnTo>
                  <a:pt x="372101" y="0"/>
                </a:lnTo>
                <a:lnTo>
                  <a:pt x="372101" y="728312"/>
                </a:lnTo>
                <a:lnTo>
                  <a:pt x="0" y="72831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9" name="TextBox 29"/>
          <p:cNvSpPr txBox="1"/>
          <p:nvPr/>
        </p:nvSpPr>
        <p:spPr>
          <a:xfrm>
            <a:off x="1035765" y="991120"/>
            <a:ext cx="9490245" cy="1137285"/>
          </a:xfrm>
          <a:prstGeom prst="rect">
            <a:avLst/>
          </a:prstGeom>
        </p:spPr>
        <p:txBody>
          <a:bodyPr lIns="0" tIns="0" rIns="0" bIns="0" rtlCol="0" anchor="t">
            <a:spAutoFit/>
          </a:bodyPr>
          <a:lstStyle/>
          <a:p>
            <a:pPr algn="l">
              <a:lnSpc>
                <a:spcPts val="8400"/>
              </a:lnSpc>
            </a:pPr>
            <a:r>
              <a:rPr lang="en-US" sz="8400" b="1" spc="-210">
                <a:solidFill>
                  <a:srgbClr val="262626"/>
                </a:solidFill>
                <a:latin typeface="Public Sans Heavy"/>
                <a:ea typeface="Public Sans Heavy"/>
                <a:cs typeface="Public Sans Heavy"/>
                <a:sym typeface="Public Sans Heavy"/>
              </a:rPr>
              <a:t>INTRODUCTION</a:t>
            </a:r>
          </a:p>
        </p:txBody>
      </p:sp>
      <p:sp>
        <p:nvSpPr>
          <p:cNvPr id="30" name="TextBox 30"/>
          <p:cNvSpPr txBox="1"/>
          <p:nvPr/>
        </p:nvSpPr>
        <p:spPr>
          <a:xfrm>
            <a:off x="13542053" y="4059787"/>
            <a:ext cx="4342419" cy="303530"/>
          </a:xfrm>
          <a:prstGeom prst="rect">
            <a:avLst/>
          </a:prstGeom>
        </p:spPr>
        <p:txBody>
          <a:bodyPr lIns="0" tIns="0" rIns="0" bIns="0" rtlCol="0" anchor="t">
            <a:spAutoFit/>
          </a:bodyPr>
          <a:lstStyle/>
          <a:p>
            <a:pPr algn="l">
              <a:lnSpc>
                <a:spcPts val="2199"/>
              </a:lnSpc>
            </a:pPr>
            <a:r>
              <a:rPr lang="en-US" sz="2199" b="1" spc="-54">
                <a:solidFill>
                  <a:srgbClr val="262626"/>
                </a:solidFill>
                <a:latin typeface="Public Sans Heavy"/>
                <a:ea typeface="Public Sans Heavy"/>
                <a:cs typeface="Public Sans Heavy"/>
                <a:sym typeface="Public Sans Heavy"/>
              </a:rPr>
              <a:t>FOCUS</a:t>
            </a:r>
          </a:p>
        </p:txBody>
      </p:sp>
      <p:sp>
        <p:nvSpPr>
          <p:cNvPr id="31" name="TextBox 31"/>
          <p:cNvSpPr txBox="1"/>
          <p:nvPr/>
        </p:nvSpPr>
        <p:spPr>
          <a:xfrm>
            <a:off x="2094645" y="6878342"/>
            <a:ext cx="2659871" cy="303530"/>
          </a:xfrm>
          <a:prstGeom prst="rect">
            <a:avLst/>
          </a:prstGeom>
        </p:spPr>
        <p:txBody>
          <a:bodyPr lIns="0" tIns="0" rIns="0" bIns="0" rtlCol="0" anchor="t">
            <a:spAutoFit/>
          </a:bodyPr>
          <a:lstStyle/>
          <a:p>
            <a:pPr algn="l">
              <a:lnSpc>
                <a:spcPts val="2199"/>
              </a:lnSpc>
            </a:pPr>
            <a:r>
              <a:rPr lang="en-US" sz="2199" b="1" spc="-54">
                <a:solidFill>
                  <a:srgbClr val="262626"/>
                </a:solidFill>
                <a:latin typeface="Public Sans Heavy"/>
                <a:ea typeface="Public Sans Heavy"/>
                <a:cs typeface="Public Sans Heavy"/>
                <a:sym typeface="Public Sans Heavy"/>
              </a:rPr>
              <a:t>OPPORTUNITY</a:t>
            </a:r>
          </a:p>
        </p:txBody>
      </p:sp>
      <p:grpSp>
        <p:nvGrpSpPr>
          <p:cNvPr id="32" name="Group 32"/>
          <p:cNvGrpSpPr/>
          <p:nvPr/>
        </p:nvGrpSpPr>
        <p:grpSpPr>
          <a:xfrm>
            <a:off x="12000085" y="1331698"/>
            <a:ext cx="5259215" cy="1297772"/>
            <a:chOff x="0" y="0"/>
            <a:chExt cx="7012287" cy="1730362"/>
          </a:xfrm>
        </p:grpSpPr>
        <p:grpSp>
          <p:nvGrpSpPr>
            <p:cNvPr id="33" name="Group 33"/>
            <p:cNvGrpSpPr/>
            <p:nvPr/>
          </p:nvGrpSpPr>
          <p:grpSpPr>
            <a:xfrm>
              <a:off x="0" y="0"/>
              <a:ext cx="7012287" cy="1730362"/>
              <a:chOff x="0" y="0"/>
              <a:chExt cx="1385143" cy="341800"/>
            </a:xfrm>
          </p:grpSpPr>
          <p:sp>
            <p:nvSpPr>
              <p:cNvPr id="34" name="Freeform 34"/>
              <p:cNvSpPr/>
              <p:nvPr/>
            </p:nvSpPr>
            <p:spPr>
              <a:xfrm>
                <a:off x="0" y="0"/>
                <a:ext cx="1385143" cy="341800"/>
              </a:xfrm>
              <a:custGeom>
                <a:avLst/>
                <a:gdLst/>
                <a:ahLst/>
                <a:cxnLst/>
                <a:rect l="l" t="t" r="r" b="b"/>
                <a:pathLst>
                  <a:path w="1385143" h="341800">
                    <a:moveTo>
                      <a:pt x="14721" y="0"/>
                    </a:moveTo>
                    <a:lnTo>
                      <a:pt x="1370422" y="0"/>
                    </a:lnTo>
                    <a:cubicBezTo>
                      <a:pt x="1378552" y="0"/>
                      <a:pt x="1385143" y="6591"/>
                      <a:pt x="1385143" y="14721"/>
                    </a:cubicBezTo>
                    <a:lnTo>
                      <a:pt x="1385143" y="327079"/>
                    </a:lnTo>
                    <a:cubicBezTo>
                      <a:pt x="1385143" y="330983"/>
                      <a:pt x="1383592" y="334728"/>
                      <a:pt x="1380832" y="337488"/>
                    </a:cubicBezTo>
                    <a:cubicBezTo>
                      <a:pt x="1378071" y="340249"/>
                      <a:pt x="1374327" y="341800"/>
                      <a:pt x="1370422" y="341800"/>
                    </a:cubicBezTo>
                    <a:lnTo>
                      <a:pt x="14721" y="341800"/>
                    </a:lnTo>
                    <a:cubicBezTo>
                      <a:pt x="6591" y="341800"/>
                      <a:pt x="0" y="335209"/>
                      <a:pt x="0" y="327079"/>
                    </a:cubicBezTo>
                    <a:lnTo>
                      <a:pt x="0" y="14721"/>
                    </a:lnTo>
                    <a:cubicBezTo>
                      <a:pt x="0" y="10817"/>
                      <a:pt x="1551" y="7072"/>
                      <a:pt x="4312" y="4312"/>
                    </a:cubicBezTo>
                    <a:cubicBezTo>
                      <a:pt x="7072" y="1551"/>
                      <a:pt x="10817" y="0"/>
                      <a:pt x="14721" y="0"/>
                    </a:cubicBezTo>
                    <a:close/>
                  </a:path>
                </a:pathLst>
              </a:custGeom>
              <a:solidFill>
                <a:srgbClr val="262626"/>
              </a:solidFill>
            </p:spPr>
            <p:txBody>
              <a:bodyPr/>
              <a:lstStyle/>
              <a:p>
                <a:endParaRPr lang="en-US"/>
              </a:p>
            </p:txBody>
          </p:sp>
          <p:sp>
            <p:nvSpPr>
              <p:cNvPr id="35" name="TextBox 35"/>
              <p:cNvSpPr txBox="1"/>
              <p:nvPr/>
            </p:nvSpPr>
            <p:spPr>
              <a:xfrm>
                <a:off x="0" y="-28575"/>
                <a:ext cx="1385143" cy="370375"/>
              </a:xfrm>
              <a:prstGeom prst="rect">
                <a:avLst/>
              </a:prstGeom>
            </p:spPr>
            <p:txBody>
              <a:bodyPr lIns="50800" tIns="50800" rIns="50800" bIns="50800" rtlCol="0" anchor="ctr"/>
              <a:lstStyle/>
              <a:p>
                <a:pPr algn="ctr">
                  <a:lnSpc>
                    <a:spcPts val="2659"/>
                  </a:lnSpc>
                </a:pPr>
                <a:endParaRPr/>
              </a:p>
            </p:txBody>
          </p:sp>
        </p:grpSp>
        <p:sp>
          <p:nvSpPr>
            <p:cNvPr id="36" name="TextBox 36"/>
            <p:cNvSpPr txBox="1"/>
            <p:nvPr/>
          </p:nvSpPr>
          <p:spPr>
            <a:xfrm>
              <a:off x="571104" y="263037"/>
              <a:ext cx="6159346" cy="1234440"/>
            </a:xfrm>
            <a:prstGeom prst="rect">
              <a:avLst/>
            </a:prstGeom>
          </p:spPr>
          <p:txBody>
            <a:bodyPr lIns="0" tIns="0" rIns="0" bIns="0" rtlCol="0" anchor="t">
              <a:spAutoFit/>
            </a:bodyPr>
            <a:lstStyle/>
            <a:p>
              <a:pPr algn="l">
                <a:lnSpc>
                  <a:spcPts val="2520"/>
                </a:lnSpc>
                <a:spcBef>
                  <a:spcPct val="0"/>
                </a:spcBef>
              </a:pPr>
              <a:r>
                <a:rPr lang="en-US" sz="1800">
                  <a:solidFill>
                    <a:srgbClr val="F2F2F2"/>
                  </a:solidFill>
                  <a:latin typeface="Be Vietnam"/>
                  <a:ea typeface="Be Vietnam"/>
                  <a:cs typeface="Be Vietnam"/>
                  <a:sym typeface="Be Vietnam"/>
                </a:rPr>
                <a:t> linking anatomy to physiology matters for deeper learning and VR addresses that gap.</a:t>
              </a:r>
            </a:p>
          </p:txBody>
        </p:sp>
      </p:grpSp>
      <p:sp>
        <p:nvSpPr>
          <p:cNvPr id="37" name="TextBox 37"/>
          <p:cNvSpPr txBox="1"/>
          <p:nvPr/>
        </p:nvSpPr>
        <p:spPr>
          <a:xfrm>
            <a:off x="13523003" y="4352228"/>
            <a:ext cx="3874495" cy="1313815"/>
          </a:xfrm>
          <a:prstGeom prst="rect">
            <a:avLst/>
          </a:prstGeom>
        </p:spPr>
        <p:txBody>
          <a:bodyPr lIns="0" tIns="0" rIns="0" bIns="0" rtlCol="0" anchor="t">
            <a:spAutoFit/>
          </a:bodyPr>
          <a:lstStyle/>
          <a:p>
            <a:pPr algn="l">
              <a:lnSpc>
                <a:spcPts val="2659"/>
              </a:lnSpc>
              <a:spcBef>
                <a:spcPct val="0"/>
              </a:spcBef>
            </a:pPr>
            <a:r>
              <a:rPr lang="en-US" sz="1899">
                <a:solidFill>
                  <a:srgbClr val="262626"/>
                </a:solidFill>
                <a:latin typeface="Be Vietnam"/>
                <a:ea typeface="Be Vietnam"/>
                <a:cs typeface="Be Vietnam"/>
                <a:sym typeface="Be Vietnam"/>
              </a:rPr>
              <a:t>VR-based anatomy learning system with an initial kidney module for 3D interactive visualization</a:t>
            </a:r>
          </a:p>
        </p:txBody>
      </p:sp>
      <p:grpSp>
        <p:nvGrpSpPr>
          <p:cNvPr id="38" name="Group 38"/>
          <p:cNvGrpSpPr/>
          <p:nvPr/>
        </p:nvGrpSpPr>
        <p:grpSpPr>
          <a:xfrm>
            <a:off x="430280" y="3989325"/>
            <a:ext cx="5350608" cy="2308349"/>
            <a:chOff x="0" y="0"/>
            <a:chExt cx="7134144" cy="3077799"/>
          </a:xfrm>
        </p:grpSpPr>
        <p:grpSp>
          <p:nvGrpSpPr>
            <p:cNvPr id="39" name="Group 39"/>
            <p:cNvGrpSpPr/>
            <p:nvPr/>
          </p:nvGrpSpPr>
          <p:grpSpPr>
            <a:xfrm>
              <a:off x="0" y="188932"/>
              <a:ext cx="1901653" cy="1901653"/>
              <a:chOff x="0" y="0"/>
              <a:chExt cx="812800" cy="812800"/>
            </a:xfrm>
          </p:grpSpPr>
          <p:sp>
            <p:nvSpPr>
              <p:cNvPr id="40" name="Freeform 4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DAA40"/>
                </a:solidFill>
                <a:prstDash val="solid"/>
                <a:miter/>
              </a:ln>
            </p:spPr>
            <p:txBody>
              <a:bodyPr/>
              <a:lstStyle/>
              <a:p>
                <a:endParaRPr lang="en-US"/>
              </a:p>
            </p:txBody>
          </p:sp>
          <p:sp>
            <p:nvSpPr>
              <p:cNvPr id="41" name="TextBox 41"/>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42" name="Group 42"/>
            <p:cNvGrpSpPr/>
            <p:nvPr/>
          </p:nvGrpSpPr>
          <p:grpSpPr>
            <a:xfrm>
              <a:off x="151062" y="339994"/>
              <a:ext cx="1599529" cy="1599529"/>
              <a:chOff x="0" y="0"/>
              <a:chExt cx="812800" cy="812800"/>
            </a:xfrm>
          </p:grpSpPr>
          <p:sp>
            <p:nvSpPr>
              <p:cNvPr id="43" name="Freeform 4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AA40"/>
              </a:solidFill>
            </p:spPr>
            <p:txBody>
              <a:bodyPr/>
              <a:lstStyle/>
              <a:p>
                <a:endParaRPr lang="en-US"/>
              </a:p>
            </p:txBody>
          </p:sp>
          <p:sp>
            <p:nvSpPr>
              <p:cNvPr id="44" name="TextBox 44"/>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45" name="Freeform 45"/>
            <p:cNvSpPr/>
            <p:nvPr/>
          </p:nvSpPr>
          <p:spPr>
            <a:xfrm>
              <a:off x="505556" y="802017"/>
              <a:ext cx="931119" cy="675484"/>
            </a:xfrm>
            <a:custGeom>
              <a:avLst/>
              <a:gdLst/>
              <a:ahLst/>
              <a:cxnLst/>
              <a:rect l="l" t="t" r="r" b="b"/>
              <a:pathLst>
                <a:path w="931119" h="675484">
                  <a:moveTo>
                    <a:pt x="0" y="0"/>
                  </a:moveTo>
                  <a:lnTo>
                    <a:pt x="931119" y="0"/>
                  </a:lnTo>
                  <a:lnTo>
                    <a:pt x="931119" y="675484"/>
                  </a:lnTo>
                  <a:lnTo>
                    <a:pt x="0" y="675484"/>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6" name="TextBox 46"/>
            <p:cNvSpPr txBox="1"/>
            <p:nvPr/>
          </p:nvSpPr>
          <p:spPr>
            <a:xfrm>
              <a:off x="2249052" y="38100"/>
              <a:ext cx="4885092" cy="480173"/>
            </a:xfrm>
            <a:prstGeom prst="rect">
              <a:avLst/>
            </a:prstGeom>
          </p:spPr>
          <p:txBody>
            <a:bodyPr lIns="0" tIns="0" rIns="0" bIns="0" rtlCol="0" anchor="t">
              <a:spAutoFit/>
            </a:bodyPr>
            <a:lstStyle/>
            <a:p>
              <a:pPr algn="l">
                <a:lnSpc>
                  <a:spcPts val="2553"/>
                </a:lnSpc>
              </a:pPr>
              <a:r>
                <a:rPr lang="en-US" sz="2553" b="1" spc="-63">
                  <a:solidFill>
                    <a:srgbClr val="262626"/>
                  </a:solidFill>
                  <a:latin typeface="Public Sans Heavy"/>
                  <a:ea typeface="Public Sans Heavy"/>
                  <a:cs typeface="Public Sans Heavy"/>
                  <a:sym typeface="Public Sans Heavy"/>
                </a:rPr>
                <a:t>CHALLENGE</a:t>
              </a:r>
            </a:p>
          </p:txBody>
        </p:sp>
        <p:sp>
          <p:nvSpPr>
            <p:cNvPr id="47" name="TextBox 47"/>
            <p:cNvSpPr txBox="1"/>
            <p:nvPr/>
          </p:nvSpPr>
          <p:spPr>
            <a:xfrm>
              <a:off x="2219153" y="446570"/>
              <a:ext cx="4914991" cy="2631228"/>
            </a:xfrm>
            <a:prstGeom prst="rect">
              <a:avLst/>
            </a:prstGeom>
          </p:spPr>
          <p:txBody>
            <a:bodyPr lIns="0" tIns="0" rIns="0" bIns="0" rtlCol="0" anchor="t">
              <a:spAutoFit/>
            </a:bodyPr>
            <a:lstStyle/>
            <a:p>
              <a:pPr algn="l">
                <a:lnSpc>
                  <a:spcPts val="2659"/>
                </a:lnSpc>
                <a:spcBef>
                  <a:spcPct val="0"/>
                </a:spcBef>
              </a:pPr>
              <a:r>
                <a:rPr lang="en-US" sz="1899">
                  <a:solidFill>
                    <a:srgbClr val="262626"/>
                  </a:solidFill>
                  <a:latin typeface="Be Vietnam"/>
                  <a:ea typeface="Be Vietnam"/>
                  <a:cs typeface="Be Vietnam"/>
                  <a:sym typeface="Be Vietnam"/>
                </a:rPr>
                <a:t>Traditional anatomy teaching methods such as cadavers and textbooks provide limited interactivity and do not effectively illustrate physiological processes.</a:t>
              </a:r>
            </a:p>
          </p:txBody>
        </p:sp>
      </p:grpSp>
      <p:sp>
        <p:nvSpPr>
          <p:cNvPr id="48" name="TextBox 48"/>
          <p:cNvSpPr txBox="1"/>
          <p:nvPr/>
        </p:nvSpPr>
        <p:spPr>
          <a:xfrm>
            <a:off x="2094645" y="7226481"/>
            <a:ext cx="3556534" cy="980440"/>
          </a:xfrm>
          <a:prstGeom prst="rect">
            <a:avLst/>
          </a:prstGeom>
        </p:spPr>
        <p:txBody>
          <a:bodyPr lIns="0" tIns="0" rIns="0" bIns="0" rtlCol="0" anchor="t">
            <a:spAutoFit/>
          </a:bodyPr>
          <a:lstStyle/>
          <a:p>
            <a:pPr algn="l">
              <a:lnSpc>
                <a:spcPts val="2659"/>
              </a:lnSpc>
              <a:spcBef>
                <a:spcPct val="0"/>
              </a:spcBef>
            </a:pPr>
            <a:r>
              <a:rPr lang="en-US" sz="1899">
                <a:solidFill>
                  <a:srgbClr val="262626"/>
                </a:solidFill>
                <a:latin typeface="Be Vietnam"/>
                <a:ea typeface="Be Vietnam"/>
                <a:cs typeface="Be Vietnam"/>
                <a:sym typeface="Be Vietnam"/>
              </a:rPr>
              <a:t>VR enables immersive exploration linking structure and function.</a:t>
            </a:r>
          </a:p>
        </p:txBody>
      </p:sp>
      <p:sp>
        <p:nvSpPr>
          <p:cNvPr id="49" name="TextBox 49"/>
          <p:cNvSpPr txBox="1"/>
          <p:nvPr/>
        </p:nvSpPr>
        <p:spPr>
          <a:xfrm>
            <a:off x="9139238" y="4972367"/>
            <a:ext cx="9525" cy="313690"/>
          </a:xfrm>
          <a:prstGeom prst="rect">
            <a:avLst/>
          </a:prstGeom>
        </p:spPr>
        <p:txBody>
          <a:bodyPr lIns="0" tIns="0" rIns="0" bIns="0" rtlCol="0" anchor="t">
            <a:spAutoFit/>
          </a:bodyPr>
          <a:lstStyle/>
          <a:p>
            <a:pPr algn="ctr">
              <a:lnSpc>
                <a:spcPts val="2659"/>
              </a:lnSpc>
              <a:spcBef>
                <a:spcPct val="0"/>
              </a:spcBef>
            </a:pPr>
            <a:endParaRPr/>
          </a:p>
        </p:txBody>
      </p:sp>
      <p:grpSp>
        <p:nvGrpSpPr>
          <p:cNvPr id="50" name="Group 50"/>
          <p:cNvGrpSpPr/>
          <p:nvPr/>
        </p:nvGrpSpPr>
        <p:grpSpPr>
          <a:xfrm>
            <a:off x="14837228" y="9258300"/>
            <a:ext cx="2887313" cy="802001"/>
            <a:chOff x="0" y="0"/>
            <a:chExt cx="3849751" cy="1069334"/>
          </a:xfrm>
        </p:grpSpPr>
        <p:grpSp>
          <p:nvGrpSpPr>
            <p:cNvPr id="51" name="Group 51"/>
            <p:cNvGrpSpPr/>
            <p:nvPr/>
          </p:nvGrpSpPr>
          <p:grpSpPr>
            <a:xfrm>
              <a:off x="0" y="0"/>
              <a:ext cx="3849751" cy="1069334"/>
              <a:chOff x="0" y="0"/>
              <a:chExt cx="1033028" cy="286941"/>
            </a:xfrm>
          </p:grpSpPr>
          <p:sp>
            <p:nvSpPr>
              <p:cNvPr id="52" name="Freeform 52"/>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53" name="TextBox 53"/>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sp>
          <p:nvSpPr>
            <p:cNvPr id="54" name="TextBox 54"/>
            <p:cNvSpPr txBox="1"/>
            <p:nvPr/>
          </p:nvSpPr>
          <p:spPr>
            <a:xfrm>
              <a:off x="581775" y="316015"/>
              <a:ext cx="1553545"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a:t>
              </a:r>
            </a:p>
          </p:txBody>
        </p:sp>
        <p:grpSp>
          <p:nvGrpSpPr>
            <p:cNvPr id="55" name="Group 55"/>
            <p:cNvGrpSpPr/>
            <p:nvPr/>
          </p:nvGrpSpPr>
          <p:grpSpPr>
            <a:xfrm>
              <a:off x="2772734" y="0"/>
              <a:ext cx="1077017" cy="1069334"/>
              <a:chOff x="0" y="0"/>
              <a:chExt cx="289003" cy="286941"/>
            </a:xfrm>
          </p:grpSpPr>
          <p:sp>
            <p:nvSpPr>
              <p:cNvPr id="56" name="Freeform 56"/>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57" name="TextBox 57"/>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58" name="Freeform 58"/>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en-US"/>
            </a:p>
          </p:txBody>
        </p:sp>
      </p:grpSp>
      <p:sp>
        <p:nvSpPr>
          <p:cNvPr id="59" name="TextBox 59"/>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
        <p:nvSpPr>
          <p:cNvPr id="60" name="TextBox 60"/>
          <p:cNvSpPr txBox="1"/>
          <p:nvPr/>
        </p:nvSpPr>
        <p:spPr>
          <a:xfrm>
            <a:off x="12000085" y="1369798"/>
            <a:ext cx="303285" cy="549409"/>
          </a:xfrm>
          <a:prstGeom prst="rect">
            <a:avLst/>
          </a:prstGeom>
        </p:spPr>
        <p:txBody>
          <a:bodyPr lIns="0" tIns="0" rIns="0" bIns="0" rtlCol="0" anchor="t">
            <a:spAutoFit/>
          </a:bodyPr>
          <a:lstStyle/>
          <a:p>
            <a:pPr algn="ctr">
              <a:lnSpc>
                <a:spcPts val="4569"/>
              </a:lnSpc>
              <a:spcBef>
                <a:spcPct val="0"/>
              </a:spcBef>
            </a:pPr>
            <a:r>
              <a:rPr lang="en-US" sz="3263">
                <a:solidFill>
                  <a:srgbClr val="FFFFFF"/>
                </a:solidFill>
                <a:latin typeface="Be Vietnam"/>
                <a:ea typeface="Be Vietnam"/>
                <a:cs typeface="Be Vietnam"/>
                <a:sym typeface="Be Vietnam"/>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6011009" y="-1022045"/>
            <a:ext cx="14079417" cy="140794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5" name="TextBox 5"/>
          <p:cNvSpPr txBox="1"/>
          <p:nvPr/>
        </p:nvSpPr>
        <p:spPr>
          <a:xfrm>
            <a:off x="7739095" y="1424570"/>
            <a:ext cx="9649758" cy="1170941"/>
          </a:xfrm>
          <a:prstGeom prst="rect">
            <a:avLst/>
          </a:prstGeom>
        </p:spPr>
        <p:txBody>
          <a:bodyPr lIns="0" tIns="0" rIns="0" bIns="0" rtlCol="0" anchor="t">
            <a:spAutoFit/>
          </a:bodyPr>
          <a:lstStyle/>
          <a:p>
            <a:pPr algn="l">
              <a:lnSpc>
                <a:spcPts val="4759"/>
              </a:lnSpc>
              <a:spcBef>
                <a:spcPct val="0"/>
              </a:spcBef>
            </a:pPr>
            <a:r>
              <a:rPr lang="en-US" sz="3399" b="1">
                <a:solidFill>
                  <a:srgbClr val="262626"/>
                </a:solidFill>
                <a:latin typeface="Be Vietnam Ultra-Bold"/>
                <a:ea typeface="Be Vietnam Ultra-Bold"/>
                <a:cs typeface="Be Vietnam Ultra-Bold"/>
                <a:sym typeface="Be Vietnam Ultra-Bold"/>
              </a:rPr>
              <a:t>How can virtual reality make anatomy learning more interactive and realistic?</a:t>
            </a:r>
          </a:p>
        </p:txBody>
      </p:sp>
      <p:grpSp>
        <p:nvGrpSpPr>
          <p:cNvPr id="6" name="Group 6"/>
          <p:cNvGrpSpPr/>
          <p:nvPr/>
        </p:nvGrpSpPr>
        <p:grpSpPr>
          <a:xfrm rot="4471843">
            <a:off x="15631614" y="-2554564"/>
            <a:ext cx="5913552" cy="5290190"/>
            <a:chOff x="0" y="0"/>
            <a:chExt cx="812800" cy="727121"/>
          </a:xfrm>
        </p:grpSpPr>
        <p:sp>
          <p:nvSpPr>
            <p:cNvPr id="7" name="Freeform 7"/>
            <p:cNvSpPr/>
            <p:nvPr/>
          </p:nvSpPr>
          <p:spPr>
            <a:xfrm>
              <a:off x="0" y="0"/>
              <a:ext cx="812800" cy="727121"/>
            </a:xfrm>
            <a:custGeom>
              <a:avLst/>
              <a:gdLst/>
              <a:ahLst/>
              <a:cxnLst/>
              <a:rect l="l" t="t" r="r" b="b"/>
              <a:pathLst>
                <a:path w="812800" h="727121">
                  <a:moveTo>
                    <a:pt x="406400" y="0"/>
                  </a:moveTo>
                  <a:cubicBezTo>
                    <a:pt x="181951" y="0"/>
                    <a:pt x="0" y="162772"/>
                    <a:pt x="0" y="363560"/>
                  </a:cubicBezTo>
                  <a:cubicBezTo>
                    <a:pt x="0" y="564349"/>
                    <a:pt x="181951" y="727121"/>
                    <a:pt x="406400" y="727121"/>
                  </a:cubicBezTo>
                  <a:cubicBezTo>
                    <a:pt x="630849" y="727121"/>
                    <a:pt x="812800" y="564349"/>
                    <a:pt x="812800" y="363560"/>
                  </a:cubicBezTo>
                  <a:cubicBezTo>
                    <a:pt x="812800" y="162772"/>
                    <a:pt x="630849" y="0"/>
                    <a:pt x="406400" y="0"/>
                  </a:cubicBezTo>
                  <a:close/>
                </a:path>
              </a:pathLst>
            </a:custGeom>
            <a:ln w="781050" cap="sq">
              <a:gradFill>
                <a:gsLst>
                  <a:gs pos="0">
                    <a:srgbClr val="83006A">
                      <a:alpha val="100000"/>
                    </a:srgbClr>
                  </a:gs>
                  <a:gs pos="100000">
                    <a:srgbClr val="00E8FF">
                      <a:alpha val="100000"/>
                    </a:srgbClr>
                  </a:gs>
                </a:gsLst>
                <a:lin ang="0"/>
              </a:gradFill>
              <a:prstDash val="solid"/>
              <a:miter/>
            </a:ln>
          </p:spPr>
          <p:txBody>
            <a:bodyPr/>
            <a:lstStyle/>
            <a:p>
              <a:endParaRPr lang="en-US"/>
            </a:p>
          </p:txBody>
        </p:sp>
        <p:sp>
          <p:nvSpPr>
            <p:cNvPr id="8" name="TextBox 8"/>
            <p:cNvSpPr txBox="1"/>
            <p:nvPr/>
          </p:nvSpPr>
          <p:spPr>
            <a:xfrm>
              <a:off x="76200" y="30068"/>
              <a:ext cx="660400" cy="628886"/>
            </a:xfrm>
            <a:prstGeom prst="rect">
              <a:avLst/>
            </a:prstGeom>
          </p:spPr>
          <p:txBody>
            <a:bodyPr lIns="50800" tIns="50800" rIns="50800" bIns="50800" rtlCol="0" anchor="ctr"/>
            <a:lstStyle/>
            <a:p>
              <a:pPr algn="ctr">
                <a:lnSpc>
                  <a:spcPts val="2520"/>
                </a:lnSpc>
              </a:pPr>
              <a:endParaRPr/>
            </a:p>
          </p:txBody>
        </p:sp>
      </p:grpSp>
      <p:grpSp>
        <p:nvGrpSpPr>
          <p:cNvPr id="9" name="Group 9"/>
          <p:cNvGrpSpPr/>
          <p:nvPr/>
        </p:nvGrpSpPr>
        <p:grpSpPr>
          <a:xfrm>
            <a:off x="14837228" y="9258300"/>
            <a:ext cx="2887313" cy="802001"/>
            <a:chOff x="0" y="0"/>
            <a:chExt cx="3849751" cy="1069334"/>
          </a:xfrm>
        </p:grpSpPr>
        <p:grpSp>
          <p:nvGrpSpPr>
            <p:cNvPr id="10" name="Group 10"/>
            <p:cNvGrpSpPr/>
            <p:nvPr/>
          </p:nvGrpSpPr>
          <p:grpSpPr>
            <a:xfrm>
              <a:off x="0" y="0"/>
              <a:ext cx="3849751" cy="1069334"/>
              <a:chOff x="0" y="0"/>
              <a:chExt cx="1033028" cy="286941"/>
            </a:xfrm>
          </p:grpSpPr>
          <p:sp>
            <p:nvSpPr>
              <p:cNvPr id="11" name="Freeform 11"/>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12" name="TextBox 12"/>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2772734" y="0"/>
              <a:ext cx="1077017" cy="1069334"/>
              <a:chOff x="0" y="0"/>
              <a:chExt cx="289003" cy="286941"/>
            </a:xfrm>
          </p:grpSpPr>
          <p:sp>
            <p:nvSpPr>
              <p:cNvPr id="14" name="Freeform 14"/>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15" name="TextBox 15"/>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6" name="Freeform 16"/>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7" name="TextBox 17"/>
            <p:cNvSpPr txBox="1"/>
            <p:nvPr/>
          </p:nvSpPr>
          <p:spPr>
            <a:xfrm>
              <a:off x="669961" y="316015"/>
              <a:ext cx="1553545"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a:t>
              </a:r>
            </a:p>
          </p:txBody>
        </p:sp>
      </p:grpSp>
      <p:grpSp>
        <p:nvGrpSpPr>
          <p:cNvPr id="18" name="Group 18"/>
          <p:cNvGrpSpPr/>
          <p:nvPr/>
        </p:nvGrpSpPr>
        <p:grpSpPr>
          <a:xfrm>
            <a:off x="-1721886" y="2038615"/>
            <a:ext cx="8965644" cy="8965644"/>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471227" y="2703648"/>
            <a:ext cx="8210322" cy="7583352"/>
          </a:xfrm>
          <a:custGeom>
            <a:avLst/>
            <a:gdLst/>
            <a:ahLst/>
            <a:cxnLst/>
            <a:rect l="l" t="t" r="r" b="b"/>
            <a:pathLst>
              <a:path w="8210322" h="7583352">
                <a:moveTo>
                  <a:pt x="0" y="0"/>
                </a:moveTo>
                <a:lnTo>
                  <a:pt x="8210322" y="0"/>
                </a:lnTo>
                <a:lnTo>
                  <a:pt x="8210322" y="7583352"/>
                </a:lnTo>
                <a:lnTo>
                  <a:pt x="0" y="75833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2" name="Group 22"/>
          <p:cNvGrpSpPr/>
          <p:nvPr/>
        </p:nvGrpSpPr>
        <p:grpSpPr>
          <a:xfrm>
            <a:off x="14837228" y="9258300"/>
            <a:ext cx="2887313" cy="802001"/>
            <a:chOff x="0" y="0"/>
            <a:chExt cx="3849751" cy="1069334"/>
          </a:xfrm>
        </p:grpSpPr>
        <p:grpSp>
          <p:nvGrpSpPr>
            <p:cNvPr id="23" name="Group 23"/>
            <p:cNvGrpSpPr/>
            <p:nvPr/>
          </p:nvGrpSpPr>
          <p:grpSpPr>
            <a:xfrm>
              <a:off x="0" y="0"/>
              <a:ext cx="3849751" cy="1069334"/>
              <a:chOff x="0" y="0"/>
              <a:chExt cx="1033028" cy="286941"/>
            </a:xfrm>
          </p:grpSpPr>
          <p:sp>
            <p:nvSpPr>
              <p:cNvPr id="24" name="Freeform 24"/>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25" name="TextBox 25"/>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2772734" y="0"/>
              <a:ext cx="1077017" cy="1069334"/>
              <a:chOff x="0" y="0"/>
              <a:chExt cx="289003" cy="286941"/>
            </a:xfrm>
          </p:grpSpPr>
          <p:sp>
            <p:nvSpPr>
              <p:cNvPr id="27" name="Freeform 27"/>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28" name="TextBox 28"/>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29" name="Freeform 29"/>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0" name="TextBox 30"/>
            <p:cNvSpPr txBox="1"/>
            <p:nvPr/>
          </p:nvSpPr>
          <p:spPr>
            <a:xfrm>
              <a:off x="669961" y="316015"/>
              <a:ext cx="1553545"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a:t>
              </a:r>
            </a:p>
          </p:txBody>
        </p:sp>
      </p:grpSp>
      <p:sp>
        <p:nvSpPr>
          <p:cNvPr id="31" name="TextBox 31"/>
          <p:cNvSpPr txBox="1"/>
          <p:nvPr/>
        </p:nvSpPr>
        <p:spPr>
          <a:xfrm>
            <a:off x="7464218" y="547637"/>
            <a:ext cx="9649758" cy="810011"/>
          </a:xfrm>
          <a:prstGeom prst="rect">
            <a:avLst/>
          </a:prstGeom>
        </p:spPr>
        <p:txBody>
          <a:bodyPr lIns="0" tIns="0" rIns="0" bIns="0" rtlCol="0" anchor="t">
            <a:spAutoFit/>
          </a:bodyPr>
          <a:lstStyle/>
          <a:p>
            <a:pPr algn="l">
              <a:lnSpc>
                <a:spcPts val="6009"/>
              </a:lnSpc>
            </a:pPr>
            <a:r>
              <a:rPr lang="en-US" sz="6009" b="1" spc="-150">
                <a:solidFill>
                  <a:srgbClr val="831170"/>
                </a:solidFill>
                <a:latin typeface="Public Sans Heavy"/>
                <a:ea typeface="Public Sans Heavy"/>
                <a:cs typeface="Public Sans Heavy"/>
                <a:sym typeface="Public Sans Heavy"/>
              </a:rPr>
              <a:t>PROBLEM</a:t>
            </a:r>
            <a:r>
              <a:rPr lang="en-US" sz="6009" b="1" spc="-150">
                <a:solidFill>
                  <a:srgbClr val="000000"/>
                </a:solidFill>
                <a:latin typeface="Public Sans Heavy"/>
                <a:ea typeface="Public Sans Heavy"/>
                <a:cs typeface="Public Sans Heavy"/>
                <a:sym typeface="Public Sans Heavy"/>
              </a:rPr>
              <a:t> STATEMENT</a:t>
            </a:r>
          </a:p>
        </p:txBody>
      </p:sp>
      <p:sp>
        <p:nvSpPr>
          <p:cNvPr id="32" name="TextBox 3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
        <p:nvSpPr>
          <p:cNvPr id="33" name="TextBox 33"/>
          <p:cNvSpPr txBox="1"/>
          <p:nvPr/>
        </p:nvSpPr>
        <p:spPr>
          <a:xfrm>
            <a:off x="8463335" y="5443825"/>
            <a:ext cx="9649758" cy="3181986"/>
          </a:xfrm>
          <a:prstGeom prst="rect">
            <a:avLst/>
          </a:prstGeom>
        </p:spPr>
        <p:txBody>
          <a:bodyPr lIns="0" tIns="0" rIns="0" bIns="0" rtlCol="0" anchor="t">
            <a:spAutoFit/>
          </a:bodyPr>
          <a:lstStyle/>
          <a:p>
            <a:pPr algn="l">
              <a:lnSpc>
                <a:spcPts val="3639"/>
              </a:lnSpc>
              <a:spcBef>
                <a:spcPct val="0"/>
              </a:spcBef>
            </a:pPr>
            <a:r>
              <a:rPr lang="en-US" sz="2599" b="1">
                <a:solidFill>
                  <a:srgbClr val="262626"/>
                </a:solidFill>
                <a:latin typeface="Be Vietnam Ultra-Bold"/>
                <a:ea typeface="Be Vietnam Ultra-Bold"/>
                <a:cs typeface="Be Vietnam Ultra-Bold"/>
                <a:sym typeface="Be Vietnam Ultra-Bold"/>
              </a:rPr>
              <a:t>Traditional anatomy teaching methods that rely on cadavers, 2D diagrams, and textbooks are often expensive, limited, and less interactive, making it difficult for students to visualize 3D organ structures and understand physiological processes; therefore, there is a need for an engaging, interactive, and cost effective solution to enhance learning outcomes.</a:t>
            </a:r>
          </a:p>
        </p:txBody>
      </p:sp>
      <p:sp>
        <p:nvSpPr>
          <p:cNvPr id="34" name="TextBox 34"/>
          <p:cNvSpPr txBox="1"/>
          <p:nvPr/>
        </p:nvSpPr>
        <p:spPr>
          <a:xfrm>
            <a:off x="8463335" y="4331498"/>
            <a:ext cx="9615253" cy="806740"/>
          </a:xfrm>
          <a:prstGeom prst="rect">
            <a:avLst/>
          </a:prstGeom>
        </p:spPr>
        <p:txBody>
          <a:bodyPr lIns="0" tIns="0" rIns="0" bIns="0" rtlCol="0" anchor="t">
            <a:spAutoFit/>
          </a:bodyPr>
          <a:lstStyle/>
          <a:p>
            <a:pPr algn="l">
              <a:lnSpc>
                <a:spcPts val="5988"/>
              </a:lnSpc>
            </a:pPr>
            <a:r>
              <a:rPr lang="en-US" sz="5988" b="1" spc="-149">
                <a:solidFill>
                  <a:srgbClr val="831170"/>
                </a:solidFill>
                <a:latin typeface="Public Sans Heavy"/>
                <a:ea typeface="Public Sans Heavy"/>
                <a:cs typeface="Public Sans Heavy"/>
                <a:sym typeface="Public Sans Heavy"/>
              </a:rPr>
              <a:t>PROBLEM</a:t>
            </a:r>
            <a:r>
              <a:rPr lang="en-US" sz="5988" b="1" spc="-149">
                <a:solidFill>
                  <a:srgbClr val="000000"/>
                </a:solidFill>
                <a:latin typeface="Public Sans Heavy"/>
                <a:ea typeface="Public Sans Heavy"/>
                <a:cs typeface="Public Sans Heavy"/>
                <a:sym typeface="Public Sans Heavy"/>
              </a:rPr>
              <a:t> DESCRIPTION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2889534" y="1721405"/>
            <a:ext cx="10136460" cy="10136460"/>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359"/>
                </a:lnSpc>
                <a:spcBef>
                  <a:spcPct val="0"/>
                </a:spcBef>
              </a:pPr>
              <a:endParaRPr/>
            </a:p>
          </p:txBody>
        </p:sp>
      </p:grpSp>
      <p:grpSp>
        <p:nvGrpSpPr>
          <p:cNvPr id="5" name="Group 5"/>
          <p:cNvGrpSpPr/>
          <p:nvPr/>
        </p:nvGrpSpPr>
        <p:grpSpPr>
          <a:xfrm>
            <a:off x="-2641993" y="2066949"/>
            <a:ext cx="9222169" cy="9222169"/>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28575"/>
              <a:ext cx="660400" cy="708025"/>
            </a:xfrm>
            <a:prstGeom prst="rect">
              <a:avLst/>
            </a:prstGeom>
          </p:spPr>
          <p:txBody>
            <a:bodyPr lIns="50800" tIns="50800" rIns="50800" bIns="50800" rtlCol="0" anchor="ctr"/>
            <a:lstStyle/>
            <a:p>
              <a:pPr algn="ctr">
                <a:lnSpc>
                  <a:spcPts val="3359"/>
                </a:lnSpc>
                <a:spcBef>
                  <a:spcPct val="0"/>
                </a:spcBef>
              </a:pPr>
              <a:endParaRPr/>
            </a:p>
          </p:txBody>
        </p:sp>
      </p:grpSp>
      <p:grpSp>
        <p:nvGrpSpPr>
          <p:cNvPr id="8" name="Group 8"/>
          <p:cNvGrpSpPr/>
          <p:nvPr/>
        </p:nvGrpSpPr>
        <p:grpSpPr>
          <a:xfrm>
            <a:off x="858718" y="2749473"/>
            <a:ext cx="6190990" cy="4927958"/>
            <a:chOff x="0" y="0"/>
            <a:chExt cx="8254654" cy="6570610"/>
          </a:xfrm>
        </p:grpSpPr>
        <p:sp>
          <p:nvSpPr>
            <p:cNvPr id="9" name="Freeform 9"/>
            <p:cNvSpPr/>
            <p:nvPr/>
          </p:nvSpPr>
          <p:spPr>
            <a:xfrm>
              <a:off x="0" y="0"/>
              <a:ext cx="740123" cy="740123"/>
            </a:xfrm>
            <a:custGeom>
              <a:avLst/>
              <a:gdLst/>
              <a:ahLst/>
              <a:cxnLst/>
              <a:rect l="l" t="t" r="r" b="b"/>
              <a:pathLst>
                <a:path w="740123" h="740123">
                  <a:moveTo>
                    <a:pt x="0" y="0"/>
                  </a:moveTo>
                  <a:lnTo>
                    <a:pt x="740123" y="0"/>
                  </a:lnTo>
                  <a:lnTo>
                    <a:pt x="740123" y="740123"/>
                  </a:lnTo>
                  <a:lnTo>
                    <a:pt x="0" y="7401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Freeform 10"/>
            <p:cNvSpPr/>
            <p:nvPr/>
          </p:nvSpPr>
          <p:spPr>
            <a:xfrm>
              <a:off x="0" y="1539282"/>
              <a:ext cx="740123" cy="740123"/>
            </a:xfrm>
            <a:custGeom>
              <a:avLst/>
              <a:gdLst/>
              <a:ahLst/>
              <a:cxnLst/>
              <a:rect l="l" t="t" r="r" b="b"/>
              <a:pathLst>
                <a:path w="740123" h="740123">
                  <a:moveTo>
                    <a:pt x="0" y="0"/>
                  </a:moveTo>
                  <a:lnTo>
                    <a:pt x="740123" y="0"/>
                  </a:lnTo>
                  <a:lnTo>
                    <a:pt x="740123" y="740123"/>
                  </a:lnTo>
                  <a:lnTo>
                    <a:pt x="0" y="7401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Freeform 11"/>
            <p:cNvSpPr/>
            <p:nvPr/>
          </p:nvSpPr>
          <p:spPr>
            <a:xfrm>
              <a:off x="0" y="2811505"/>
              <a:ext cx="740123" cy="740123"/>
            </a:xfrm>
            <a:custGeom>
              <a:avLst/>
              <a:gdLst/>
              <a:ahLst/>
              <a:cxnLst/>
              <a:rect l="l" t="t" r="r" b="b"/>
              <a:pathLst>
                <a:path w="740123" h="740123">
                  <a:moveTo>
                    <a:pt x="0" y="0"/>
                  </a:moveTo>
                  <a:lnTo>
                    <a:pt x="740123" y="0"/>
                  </a:lnTo>
                  <a:lnTo>
                    <a:pt x="740123" y="740123"/>
                  </a:lnTo>
                  <a:lnTo>
                    <a:pt x="0" y="7401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2" name="Freeform 12"/>
            <p:cNvSpPr/>
            <p:nvPr/>
          </p:nvSpPr>
          <p:spPr>
            <a:xfrm>
              <a:off x="0" y="4351728"/>
              <a:ext cx="740123" cy="740123"/>
            </a:xfrm>
            <a:custGeom>
              <a:avLst/>
              <a:gdLst/>
              <a:ahLst/>
              <a:cxnLst/>
              <a:rect l="l" t="t" r="r" b="b"/>
              <a:pathLst>
                <a:path w="740123" h="740123">
                  <a:moveTo>
                    <a:pt x="0" y="0"/>
                  </a:moveTo>
                  <a:lnTo>
                    <a:pt x="740123" y="0"/>
                  </a:lnTo>
                  <a:lnTo>
                    <a:pt x="740123" y="740123"/>
                  </a:lnTo>
                  <a:lnTo>
                    <a:pt x="0" y="7401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3" name="TextBox 13"/>
            <p:cNvSpPr txBox="1"/>
            <p:nvPr/>
          </p:nvSpPr>
          <p:spPr>
            <a:xfrm>
              <a:off x="1024774" y="88146"/>
              <a:ext cx="6486812" cy="954616"/>
            </a:xfrm>
            <a:prstGeom prst="rect">
              <a:avLst/>
            </a:prstGeom>
          </p:spPr>
          <p:txBody>
            <a:bodyPr lIns="0" tIns="0" rIns="0" bIns="0" rtlCol="0" anchor="t">
              <a:spAutoFit/>
            </a:bodyPr>
            <a:lstStyle/>
            <a:p>
              <a:pPr algn="l">
                <a:lnSpc>
                  <a:spcPts val="2799"/>
                </a:lnSpc>
              </a:pPr>
              <a:r>
                <a:rPr lang="en-US" sz="2499">
                  <a:solidFill>
                    <a:srgbClr val="262626"/>
                  </a:solidFill>
                  <a:latin typeface="Be Vietnam"/>
                  <a:ea typeface="Be Vietnam"/>
                  <a:cs typeface="Be Vietnam"/>
                  <a:sym typeface="Be Vietnam"/>
                </a:rPr>
                <a:t>Allows users to explore a 3D kidney model</a:t>
              </a:r>
            </a:p>
          </p:txBody>
        </p:sp>
        <p:sp>
          <p:nvSpPr>
            <p:cNvPr id="14" name="TextBox 14"/>
            <p:cNvSpPr txBox="1"/>
            <p:nvPr/>
          </p:nvSpPr>
          <p:spPr>
            <a:xfrm>
              <a:off x="1024774" y="1519012"/>
              <a:ext cx="6486812" cy="484716"/>
            </a:xfrm>
            <a:prstGeom prst="rect">
              <a:avLst/>
            </a:prstGeom>
          </p:spPr>
          <p:txBody>
            <a:bodyPr lIns="0" tIns="0" rIns="0" bIns="0" rtlCol="0" anchor="t">
              <a:spAutoFit/>
            </a:bodyPr>
            <a:lstStyle/>
            <a:p>
              <a:pPr algn="l">
                <a:lnSpc>
                  <a:spcPts val="2799"/>
                </a:lnSpc>
              </a:pPr>
              <a:r>
                <a:rPr lang="en-US" sz="2499">
                  <a:solidFill>
                    <a:srgbClr val="262626"/>
                  </a:solidFill>
                  <a:latin typeface="Be Vietnam"/>
                  <a:ea typeface="Be Vietnam"/>
                  <a:cs typeface="Be Vietnam"/>
                  <a:sym typeface="Be Vietnam"/>
                </a:rPr>
                <a:t>Provides nephron visualization</a:t>
              </a:r>
            </a:p>
          </p:txBody>
        </p:sp>
        <p:sp>
          <p:nvSpPr>
            <p:cNvPr id="15" name="TextBox 15"/>
            <p:cNvSpPr txBox="1"/>
            <p:nvPr/>
          </p:nvSpPr>
          <p:spPr>
            <a:xfrm>
              <a:off x="1110185" y="2747402"/>
              <a:ext cx="6486812" cy="954616"/>
            </a:xfrm>
            <a:prstGeom prst="rect">
              <a:avLst/>
            </a:prstGeom>
          </p:spPr>
          <p:txBody>
            <a:bodyPr lIns="0" tIns="0" rIns="0" bIns="0" rtlCol="0" anchor="t">
              <a:spAutoFit/>
            </a:bodyPr>
            <a:lstStyle/>
            <a:p>
              <a:pPr algn="l">
                <a:lnSpc>
                  <a:spcPts val="2799"/>
                </a:lnSpc>
              </a:pPr>
              <a:r>
                <a:rPr lang="en-US" sz="2499">
                  <a:solidFill>
                    <a:srgbClr val="262626"/>
                  </a:solidFill>
                  <a:latin typeface="Be Vietnam"/>
                  <a:ea typeface="Be Vietnam"/>
                  <a:cs typeface="Be Vietnam"/>
                  <a:sym typeface="Be Vietnam"/>
                </a:rPr>
                <a:t>Shows kidney function through animations</a:t>
              </a:r>
            </a:p>
          </p:txBody>
        </p:sp>
        <p:sp>
          <p:nvSpPr>
            <p:cNvPr id="16" name="TextBox 16"/>
            <p:cNvSpPr txBox="1"/>
            <p:nvPr/>
          </p:nvSpPr>
          <p:spPr>
            <a:xfrm>
              <a:off x="1159293" y="4262682"/>
              <a:ext cx="7095361" cy="954616"/>
            </a:xfrm>
            <a:prstGeom prst="rect">
              <a:avLst/>
            </a:prstGeom>
          </p:spPr>
          <p:txBody>
            <a:bodyPr lIns="0" tIns="0" rIns="0" bIns="0" rtlCol="0" anchor="t">
              <a:spAutoFit/>
            </a:bodyPr>
            <a:lstStyle/>
            <a:p>
              <a:pPr algn="l">
                <a:lnSpc>
                  <a:spcPts val="2799"/>
                </a:lnSpc>
              </a:pPr>
              <a:r>
                <a:rPr lang="en-US" sz="2499">
                  <a:solidFill>
                    <a:srgbClr val="000000"/>
                  </a:solidFill>
                  <a:latin typeface="Be Vietnam"/>
                  <a:ea typeface="Be Vietnam"/>
                  <a:cs typeface="Be Vietnam"/>
                  <a:sym typeface="Be Vietnam"/>
                </a:rPr>
                <a:t>Includes disease simulation (Kidney Stones &amp; PKD)</a:t>
              </a:r>
            </a:p>
          </p:txBody>
        </p:sp>
        <p:sp>
          <p:nvSpPr>
            <p:cNvPr id="17" name="TextBox 17"/>
            <p:cNvSpPr txBox="1"/>
            <p:nvPr/>
          </p:nvSpPr>
          <p:spPr>
            <a:xfrm>
              <a:off x="1110185" y="5668149"/>
              <a:ext cx="7144469" cy="902462"/>
            </a:xfrm>
            <a:prstGeom prst="rect">
              <a:avLst/>
            </a:prstGeom>
          </p:spPr>
          <p:txBody>
            <a:bodyPr lIns="0" tIns="0" rIns="0" bIns="0" rtlCol="0" anchor="t">
              <a:spAutoFit/>
            </a:bodyPr>
            <a:lstStyle/>
            <a:p>
              <a:pPr algn="l">
                <a:lnSpc>
                  <a:spcPts val="2687"/>
                </a:lnSpc>
              </a:pPr>
              <a:r>
                <a:rPr lang="en-US" sz="2399">
                  <a:solidFill>
                    <a:srgbClr val="000000"/>
                  </a:solidFill>
                  <a:latin typeface="Be Vietnam"/>
                  <a:ea typeface="Be Vietnam"/>
                  <a:cs typeface="Be Vietnam"/>
                  <a:sym typeface="Be Vietnam"/>
                </a:rPr>
                <a:t>Displays anatomical position inside the human body</a:t>
              </a:r>
            </a:p>
          </p:txBody>
        </p:sp>
        <p:sp>
          <p:nvSpPr>
            <p:cNvPr id="18" name="Freeform 18"/>
            <p:cNvSpPr/>
            <p:nvPr/>
          </p:nvSpPr>
          <p:spPr>
            <a:xfrm>
              <a:off x="0" y="5739793"/>
              <a:ext cx="740123" cy="740123"/>
            </a:xfrm>
            <a:custGeom>
              <a:avLst/>
              <a:gdLst/>
              <a:ahLst/>
              <a:cxnLst/>
              <a:rect l="l" t="t" r="r" b="b"/>
              <a:pathLst>
                <a:path w="740123" h="740123">
                  <a:moveTo>
                    <a:pt x="0" y="0"/>
                  </a:moveTo>
                  <a:lnTo>
                    <a:pt x="740123" y="0"/>
                  </a:lnTo>
                  <a:lnTo>
                    <a:pt x="740123" y="740123"/>
                  </a:lnTo>
                  <a:lnTo>
                    <a:pt x="0" y="74012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grpSp>
        <p:nvGrpSpPr>
          <p:cNvPr id="19" name="Group 19"/>
          <p:cNvGrpSpPr/>
          <p:nvPr/>
        </p:nvGrpSpPr>
        <p:grpSpPr>
          <a:xfrm>
            <a:off x="14837228" y="9258300"/>
            <a:ext cx="2887313" cy="802001"/>
            <a:chOff x="0" y="0"/>
            <a:chExt cx="3849751" cy="1069334"/>
          </a:xfrm>
        </p:grpSpPr>
        <p:grpSp>
          <p:nvGrpSpPr>
            <p:cNvPr id="20" name="Group 20"/>
            <p:cNvGrpSpPr/>
            <p:nvPr/>
          </p:nvGrpSpPr>
          <p:grpSpPr>
            <a:xfrm>
              <a:off x="0" y="0"/>
              <a:ext cx="3849751" cy="1069334"/>
              <a:chOff x="0" y="0"/>
              <a:chExt cx="1033028" cy="286941"/>
            </a:xfrm>
          </p:grpSpPr>
          <p:sp>
            <p:nvSpPr>
              <p:cNvPr id="21" name="Freeform 21"/>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22" name="TextBox 22"/>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2772734" y="0"/>
              <a:ext cx="1077017" cy="1069334"/>
              <a:chOff x="0" y="0"/>
              <a:chExt cx="289003" cy="286941"/>
            </a:xfrm>
          </p:grpSpPr>
          <p:sp>
            <p:nvSpPr>
              <p:cNvPr id="24" name="Freeform 24"/>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25" name="TextBox 25"/>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26" name="Freeform 26"/>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7" name="TextBox 27"/>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sp>
        <p:nvSpPr>
          <p:cNvPr id="28" name="Freeform 28"/>
          <p:cNvSpPr/>
          <p:nvPr/>
        </p:nvSpPr>
        <p:spPr>
          <a:xfrm>
            <a:off x="11385789" y="875623"/>
            <a:ext cx="4001884" cy="3990490"/>
          </a:xfrm>
          <a:custGeom>
            <a:avLst/>
            <a:gdLst/>
            <a:ahLst/>
            <a:cxnLst/>
            <a:rect l="l" t="t" r="r" b="b"/>
            <a:pathLst>
              <a:path w="4001884" h="3990490">
                <a:moveTo>
                  <a:pt x="0" y="0"/>
                </a:moveTo>
                <a:lnTo>
                  <a:pt x="4001883" y="0"/>
                </a:lnTo>
                <a:lnTo>
                  <a:pt x="4001883" y="3990491"/>
                </a:lnTo>
                <a:lnTo>
                  <a:pt x="0" y="3990491"/>
                </a:lnTo>
                <a:lnTo>
                  <a:pt x="0" y="0"/>
                </a:lnTo>
                <a:close/>
              </a:path>
            </a:pathLst>
          </a:custGeom>
          <a:blipFill>
            <a:blip r:embed="rId4"/>
            <a:stretch>
              <a:fillRect/>
            </a:stretch>
          </a:blipFill>
        </p:spPr>
        <p:txBody>
          <a:bodyPr/>
          <a:lstStyle/>
          <a:p>
            <a:endParaRPr lang="en-US"/>
          </a:p>
        </p:txBody>
      </p:sp>
      <p:sp>
        <p:nvSpPr>
          <p:cNvPr id="29" name="Freeform 29"/>
          <p:cNvSpPr/>
          <p:nvPr/>
        </p:nvSpPr>
        <p:spPr>
          <a:xfrm>
            <a:off x="13381241" y="4866114"/>
            <a:ext cx="4001884" cy="4198557"/>
          </a:xfrm>
          <a:custGeom>
            <a:avLst/>
            <a:gdLst/>
            <a:ahLst/>
            <a:cxnLst/>
            <a:rect l="l" t="t" r="r" b="b"/>
            <a:pathLst>
              <a:path w="4001884" h="4198557">
                <a:moveTo>
                  <a:pt x="0" y="0"/>
                </a:moveTo>
                <a:lnTo>
                  <a:pt x="4001884" y="0"/>
                </a:lnTo>
                <a:lnTo>
                  <a:pt x="4001884" y="4198557"/>
                </a:lnTo>
                <a:lnTo>
                  <a:pt x="0" y="4198557"/>
                </a:lnTo>
                <a:lnTo>
                  <a:pt x="0" y="0"/>
                </a:lnTo>
                <a:close/>
              </a:path>
            </a:pathLst>
          </a:custGeom>
          <a:blipFill>
            <a:blip r:embed="rId5"/>
            <a:stretch>
              <a:fillRect/>
            </a:stretch>
          </a:blipFill>
        </p:spPr>
        <p:txBody>
          <a:bodyPr/>
          <a:lstStyle/>
          <a:p>
            <a:endParaRPr lang="en-US"/>
          </a:p>
        </p:txBody>
      </p:sp>
      <p:sp>
        <p:nvSpPr>
          <p:cNvPr id="30" name="Freeform 30"/>
          <p:cNvSpPr/>
          <p:nvPr/>
        </p:nvSpPr>
        <p:spPr>
          <a:xfrm>
            <a:off x="9390336" y="4866114"/>
            <a:ext cx="3990905" cy="4198557"/>
          </a:xfrm>
          <a:custGeom>
            <a:avLst/>
            <a:gdLst/>
            <a:ahLst/>
            <a:cxnLst/>
            <a:rect l="l" t="t" r="r" b="b"/>
            <a:pathLst>
              <a:path w="3990905" h="4198557">
                <a:moveTo>
                  <a:pt x="0" y="0"/>
                </a:moveTo>
                <a:lnTo>
                  <a:pt x="3990905" y="0"/>
                </a:lnTo>
                <a:lnTo>
                  <a:pt x="3990905" y="4198557"/>
                </a:lnTo>
                <a:lnTo>
                  <a:pt x="0" y="4198557"/>
                </a:lnTo>
                <a:lnTo>
                  <a:pt x="0" y="0"/>
                </a:lnTo>
                <a:close/>
              </a:path>
            </a:pathLst>
          </a:custGeom>
          <a:blipFill>
            <a:blip r:embed="rId6"/>
            <a:stretch>
              <a:fillRect/>
            </a:stretch>
          </a:blipFill>
        </p:spPr>
        <p:txBody>
          <a:bodyPr/>
          <a:lstStyle/>
          <a:p>
            <a:endParaRPr lang="en-US"/>
          </a:p>
        </p:txBody>
      </p:sp>
      <p:sp>
        <p:nvSpPr>
          <p:cNvPr id="31" name="TextBox 31"/>
          <p:cNvSpPr txBox="1"/>
          <p:nvPr/>
        </p:nvSpPr>
        <p:spPr>
          <a:xfrm>
            <a:off x="6071700" y="509634"/>
            <a:ext cx="4467249" cy="875774"/>
          </a:xfrm>
          <a:prstGeom prst="rect">
            <a:avLst/>
          </a:prstGeom>
        </p:spPr>
        <p:txBody>
          <a:bodyPr lIns="0" tIns="0" rIns="0" bIns="0" rtlCol="0" anchor="t">
            <a:spAutoFit/>
          </a:bodyPr>
          <a:lstStyle/>
          <a:p>
            <a:pPr algn="l">
              <a:lnSpc>
                <a:spcPts val="6527"/>
              </a:lnSpc>
            </a:pPr>
            <a:r>
              <a:rPr lang="en-US" sz="6527" b="1" spc="-163">
                <a:solidFill>
                  <a:srgbClr val="262626"/>
                </a:solidFill>
                <a:latin typeface="Public Sans Heavy"/>
                <a:ea typeface="Public Sans Heavy"/>
                <a:cs typeface="Public Sans Heavy"/>
                <a:sym typeface="Public Sans Heavy"/>
              </a:rPr>
              <a:t>SOLUTION</a:t>
            </a:r>
          </a:p>
        </p:txBody>
      </p:sp>
      <p:sp>
        <p:nvSpPr>
          <p:cNvPr id="32" name="TextBox 3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4</a:t>
            </a:r>
          </a:p>
        </p:txBody>
      </p:sp>
      <p:sp>
        <p:nvSpPr>
          <p:cNvPr id="33" name="TextBox 33"/>
          <p:cNvSpPr txBox="1"/>
          <p:nvPr/>
        </p:nvSpPr>
        <p:spPr>
          <a:xfrm>
            <a:off x="858718" y="1822574"/>
            <a:ext cx="8827889" cy="431599"/>
          </a:xfrm>
          <a:prstGeom prst="rect">
            <a:avLst/>
          </a:prstGeom>
        </p:spPr>
        <p:txBody>
          <a:bodyPr lIns="0" tIns="0" rIns="0" bIns="0" rtlCol="0" anchor="t">
            <a:spAutoFit/>
          </a:bodyPr>
          <a:lstStyle/>
          <a:p>
            <a:pPr algn="ctr">
              <a:lnSpc>
                <a:spcPts val="3511"/>
              </a:lnSpc>
              <a:spcBef>
                <a:spcPct val="0"/>
              </a:spcBef>
            </a:pPr>
            <a:r>
              <a:rPr lang="en-US" sz="2507">
                <a:solidFill>
                  <a:srgbClr val="000000"/>
                </a:solidFill>
                <a:latin typeface="Be Vietnam"/>
                <a:ea typeface="Be Vietnam"/>
                <a:cs typeface="Be Vietnam"/>
                <a:sym typeface="Be Vietnam"/>
              </a:rPr>
              <a:t>We developed a VR Based Anatomy Learning System that: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id="3" name="TextBox 3"/>
          <p:cNvSpPr txBox="1"/>
          <p:nvPr/>
        </p:nvSpPr>
        <p:spPr>
          <a:xfrm>
            <a:off x="253869" y="2436852"/>
            <a:ext cx="7558506" cy="2706648"/>
          </a:xfrm>
          <a:prstGeom prst="rect">
            <a:avLst/>
          </a:prstGeom>
        </p:spPr>
        <p:txBody>
          <a:bodyPr lIns="0" tIns="0" rIns="0" bIns="0" rtlCol="0" anchor="t">
            <a:spAutoFit/>
          </a:bodyPr>
          <a:lstStyle/>
          <a:p>
            <a:pPr algn="l">
              <a:lnSpc>
                <a:spcPts val="10383"/>
              </a:lnSpc>
            </a:pPr>
            <a:r>
              <a:rPr lang="en-US" sz="10383" b="1" spc="-259">
                <a:solidFill>
                  <a:srgbClr val="831170"/>
                </a:solidFill>
                <a:latin typeface="Public Sans Heavy"/>
                <a:ea typeface="Public Sans Heavy"/>
                <a:cs typeface="Public Sans Heavy"/>
                <a:sym typeface="Public Sans Heavy"/>
              </a:rPr>
              <a:t>ACTIVITY</a:t>
            </a:r>
            <a:r>
              <a:rPr lang="en-US" sz="10383" b="1" spc="-259">
                <a:solidFill>
                  <a:srgbClr val="000000"/>
                </a:solidFill>
                <a:latin typeface="Public Sans Heavy"/>
                <a:ea typeface="Public Sans Heavy"/>
                <a:cs typeface="Public Sans Heavy"/>
                <a:sym typeface="Public Sans Heavy"/>
              </a:rPr>
              <a:t> </a:t>
            </a:r>
          </a:p>
          <a:p>
            <a:pPr algn="l">
              <a:lnSpc>
                <a:spcPts val="10383"/>
              </a:lnSpc>
            </a:pPr>
            <a:r>
              <a:rPr lang="en-US" sz="10383" b="1" spc="-259">
                <a:solidFill>
                  <a:srgbClr val="262626"/>
                </a:solidFill>
                <a:latin typeface="Public Sans Heavy"/>
                <a:ea typeface="Public Sans Heavy"/>
                <a:cs typeface="Public Sans Heavy"/>
                <a:sym typeface="Public Sans Heavy"/>
              </a:rPr>
              <a:t>DIAGRAM</a:t>
            </a:r>
          </a:p>
        </p:txBody>
      </p:sp>
      <p:sp>
        <p:nvSpPr>
          <p:cNvPr id="4" name="Freeform 4"/>
          <p:cNvSpPr/>
          <p:nvPr/>
        </p:nvSpPr>
        <p:spPr>
          <a:xfrm flipH="1">
            <a:off x="253869" y="5672382"/>
            <a:ext cx="4986326" cy="4614618"/>
          </a:xfrm>
          <a:custGeom>
            <a:avLst/>
            <a:gdLst/>
            <a:ahLst/>
            <a:cxnLst/>
            <a:rect l="l" t="t" r="r" b="b"/>
            <a:pathLst>
              <a:path w="4986326" h="4614618">
                <a:moveTo>
                  <a:pt x="4986326" y="0"/>
                </a:moveTo>
                <a:lnTo>
                  <a:pt x="0" y="0"/>
                </a:lnTo>
                <a:lnTo>
                  <a:pt x="0" y="4614618"/>
                </a:lnTo>
                <a:lnTo>
                  <a:pt x="4986326" y="4614618"/>
                </a:lnTo>
                <a:lnTo>
                  <a:pt x="4986326"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5" name="Group 5"/>
          <p:cNvGrpSpPr/>
          <p:nvPr/>
        </p:nvGrpSpPr>
        <p:grpSpPr>
          <a:xfrm>
            <a:off x="15712724" y="9258300"/>
            <a:ext cx="2467316" cy="685339"/>
            <a:chOff x="0" y="0"/>
            <a:chExt cx="3289754" cy="913785"/>
          </a:xfrm>
        </p:grpSpPr>
        <p:grpSp>
          <p:nvGrpSpPr>
            <p:cNvPr id="6" name="Group 6"/>
            <p:cNvGrpSpPr/>
            <p:nvPr/>
          </p:nvGrpSpPr>
          <p:grpSpPr>
            <a:xfrm>
              <a:off x="0" y="0"/>
              <a:ext cx="3289754" cy="913785"/>
              <a:chOff x="0" y="0"/>
              <a:chExt cx="1033028" cy="286941"/>
            </a:xfrm>
          </p:grpSpPr>
          <p:sp>
            <p:nvSpPr>
              <p:cNvPr id="7" name="Freeform 7"/>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8" name="TextBox 8"/>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9" name="Group 9"/>
            <p:cNvGrpSpPr/>
            <p:nvPr/>
          </p:nvGrpSpPr>
          <p:grpSpPr>
            <a:xfrm>
              <a:off x="2369404" y="0"/>
              <a:ext cx="920350" cy="913785"/>
              <a:chOff x="0" y="0"/>
              <a:chExt cx="289003" cy="286941"/>
            </a:xfrm>
          </p:grpSpPr>
          <p:sp>
            <p:nvSpPr>
              <p:cNvPr id="10" name="Freeform 10"/>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11" name="TextBox 11"/>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2" name="Freeform 12"/>
            <p:cNvSpPr/>
            <p:nvPr/>
          </p:nvSpPr>
          <p:spPr>
            <a:xfrm rot="-5400000">
              <a:off x="2603045" y="251047"/>
              <a:ext cx="313244" cy="423303"/>
            </a:xfrm>
            <a:custGeom>
              <a:avLst/>
              <a:gdLst/>
              <a:ahLst/>
              <a:cxnLst/>
              <a:rect l="l" t="t" r="r" b="b"/>
              <a:pathLst>
                <a:path w="313244" h="423303">
                  <a:moveTo>
                    <a:pt x="0" y="0"/>
                  </a:moveTo>
                  <a:lnTo>
                    <a:pt x="313244" y="0"/>
                  </a:lnTo>
                  <a:lnTo>
                    <a:pt x="313244" y="423303"/>
                  </a:lnTo>
                  <a:lnTo>
                    <a:pt x="0" y="42330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TextBox 13"/>
            <p:cNvSpPr txBox="1"/>
            <p:nvPr/>
          </p:nvSpPr>
          <p:spPr>
            <a:xfrm>
              <a:off x="465684" y="271696"/>
              <a:ext cx="1390869" cy="353430"/>
            </a:xfrm>
            <a:prstGeom prst="rect">
              <a:avLst/>
            </a:prstGeom>
          </p:spPr>
          <p:txBody>
            <a:bodyPr lIns="0" tIns="0" rIns="0" bIns="0" rtlCol="0" anchor="t">
              <a:spAutoFit/>
            </a:bodyPr>
            <a:lstStyle/>
            <a:p>
              <a:pPr algn="ctr">
                <a:lnSpc>
                  <a:spcPts val="2273"/>
                </a:lnSpc>
                <a:spcBef>
                  <a:spcPct val="0"/>
                </a:spcBef>
              </a:pPr>
              <a:r>
                <a:rPr lang="en-US" sz="1623">
                  <a:solidFill>
                    <a:srgbClr val="FFFFFF"/>
                  </a:solidFill>
                  <a:latin typeface="Be Vietnam"/>
                  <a:ea typeface="Be Vietnam"/>
                  <a:cs typeface="Be Vietnam"/>
                  <a:sym typeface="Be Vietnam"/>
                </a:rPr>
                <a:t>Next Slide </a:t>
              </a:r>
            </a:p>
          </p:txBody>
        </p:sp>
      </p:grpSp>
      <p:sp>
        <p:nvSpPr>
          <p:cNvPr id="14" name="Freeform 14"/>
          <p:cNvSpPr/>
          <p:nvPr/>
        </p:nvSpPr>
        <p:spPr>
          <a:xfrm>
            <a:off x="7072571" y="150431"/>
            <a:ext cx="7430575" cy="10237124"/>
          </a:xfrm>
          <a:custGeom>
            <a:avLst/>
            <a:gdLst/>
            <a:ahLst/>
            <a:cxnLst/>
            <a:rect l="l" t="t" r="r" b="b"/>
            <a:pathLst>
              <a:path w="7430575" h="10237124">
                <a:moveTo>
                  <a:pt x="0" y="0"/>
                </a:moveTo>
                <a:lnTo>
                  <a:pt x="7430576" y="0"/>
                </a:lnTo>
                <a:lnTo>
                  <a:pt x="7430576" y="10237124"/>
                </a:lnTo>
                <a:lnTo>
                  <a:pt x="0" y="10237124"/>
                </a:lnTo>
                <a:lnTo>
                  <a:pt x="0" y="0"/>
                </a:lnTo>
                <a:close/>
              </a:path>
            </a:pathLst>
          </a:custGeom>
          <a:blipFill>
            <a:blip r:embed="rId4"/>
            <a:stretch>
              <a:fillRect l="-1437" t="-2938" r="-1437"/>
            </a:stretch>
          </a:blipFill>
        </p:spPr>
        <p:txBody>
          <a:bodyPr/>
          <a:lstStyle/>
          <a:p>
            <a:endParaRPr lang="en-US"/>
          </a:p>
        </p:txBody>
      </p:sp>
      <p:sp>
        <p:nvSpPr>
          <p:cNvPr id="15" name="Freeform 15"/>
          <p:cNvSpPr/>
          <p:nvPr/>
        </p:nvSpPr>
        <p:spPr>
          <a:xfrm rot="-5400000">
            <a:off x="13103172" y="3155096"/>
            <a:ext cx="7315200" cy="3976809"/>
          </a:xfrm>
          <a:custGeom>
            <a:avLst/>
            <a:gdLst/>
            <a:ahLst/>
            <a:cxnLst/>
            <a:rect l="l" t="t" r="r" b="b"/>
            <a:pathLst>
              <a:path w="7315200" h="3976809">
                <a:moveTo>
                  <a:pt x="0" y="0"/>
                </a:moveTo>
                <a:lnTo>
                  <a:pt x="7315200" y="0"/>
                </a:lnTo>
                <a:lnTo>
                  <a:pt x="7315200" y="3976808"/>
                </a:lnTo>
                <a:lnTo>
                  <a:pt x="0" y="397680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grpSp>
        <p:nvGrpSpPr>
          <p:cNvPr id="3" name="Group 3"/>
          <p:cNvGrpSpPr/>
          <p:nvPr/>
        </p:nvGrpSpPr>
        <p:grpSpPr>
          <a:xfrm>
            <a:off x="14678663" y="9283199"/>
            <a:ext cx="3045878" cy="802001"/>
            <a:chOff x="0" y="0"/>
            <a:chExt cx="4061170" cy="1069334"/>
          </a:xfrm>
        </p:grpSpPr>
        <p:grpSp>
          <p:nvGrpSpPr>
            <p:cNvPr id="4" name="Group 4"/>
            <p:cNvGrpSpPr/>
            <p:nvPr/>
          </p:nvGrpSpPr>
          <p:grpSpPr>
            <a:xfrm>
              <a:off x="0" y="0"/>
              <a:ext cx="3849751" cy="1069334"/>
              <a:chOff x="0" y="0"/>
              <a:chExt cx="1033028" cy="286941"/>
            </a:xfrm>
          </p:grpSpPr>
          <p:sp>
            <p:nvSpPr>
              <p:cNvPr id="5" name="Freeform 5"/>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6" name="TextBox 6"/>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984153" y="0"/>
              <a:ext cx="1077017" cy="1069334"/>
              <a:chOff x="0" y="0"/>
              <a:chExt cx="289003" cy="286941"/>
            </a:xfrm>
          </p:grpSpPr>
          <p:sp>
            <p:nvSpPr>
              <p:cNvPr id="8" name="Freeform 8"/>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9" name="TextBox 9"/>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5400000">
              <a:off x="3257566" y="260583"/>
              <a:ext cx="366566" cy="495359"/>
            </a:xfrm>
            <a:custGeom>
              <a:avLst/>
              <a:gdLst/>
              <a:ahLst/>
              <a:cxnLst/>
              <a:rect l="l" t="t" r="r" b="b"/>
              <a:pathLst>
                <a:path w="366566" h="495359">
                  <a:moveTo>
                    <a:pt x="0" y="0"/>
                  </a:moveTo>
                  <a:lnTo>
                    <a:pt x="366566" y="0"/>
                  </a:lnTo>
                  <a:lnTo>
                    <a:pt x="366566" y="495359"/>
                  </a:lnTo>
                  <a:lnTo>
                    <a:pt x="0" y="49535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TextBox 11"/>
            <p:cNvSpPr txBox="1"/>
            <p:nvPr/>
          </p:nvSpPr>
          <p:spPr>
            <a:xfrm>
              <a:off x="662869" y="289611"/>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sp>
        <p:nvSpPr>
          <p:cNvPr id="12" name="Freeform 12"/>
          <p:cNvSpPr/>
          <p:nvPr/>
        </p:nvSpPr>
        <p:spPr>
          <a:xfrm>
            <a:off x="14678663" y="1028700"/>
            <a:ext cx="2097423" cy="2148199"/>
          </a:xfrm>
          <a:custGeom>
            <a:avLst/>
            <a:gdLst/>
            <a:ahLst/>
            <a:cxnLst/>
            <a:rect l="l" t="t" r="r" b="b"/>
            <a:pathLst>
              <a:path w="2097423" h="2148199">
                <a:moveTo>
                  <a:pt x="0" y="0"/>
                </a:moveTo>
                <a:lnTo>
                  <a:pt x="2097424" y="0"/>
                </a:lnTo>
                <a:lnTo>
                  <a:pt x="2097424" y="2148199"/>
                </a:lnTo>
                <a:lnTo>
                  <a:pt x="0" y="214819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a:off x="13529631" y="4975287"/>
            <a:ext cx="4758369" cy="3408723"/>
          </a:xfrm>
          <a:custGeom>
            <a:avLst/>
            <a:gdLst/>
            <a:ahLst/>
            <a:cxnLst/>
            <a:rect l="l" t="t" r="r" b="b"/>
            <a:pathLst>
              <a:path w="4758369" h="3408723">
                <a:moveTo>
                  <a:pt x="0" y="0"/>
                </a:moveTo>
                <a:lnTo>
                  <a:pt x="4758369" y="0"/>
                </a:lnTo>
                <a:lnTo>
                  <a:pt x="4758369" y="3408722"/>
                </a:lnTo>
                <a:lnTo>
                  <a:pt x="0" y="340872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4" name="TextBox 14"/>
          <p:cNvSpPr txBox="1"/>
          <p:nvPr/>
        </p:nvSpPr>
        <p:spPr>
          <a:xfrm>
            <a:off x="3923116" y="63964"/>
            <a:ext cx="9183284" cy="1497526"/>
          </a:xfrm>
          <a:prstGeom prst="rect">
            <a:avLst/>
          </a:prstGeom>
        </p:spPr>
        <p:txBody>
          <a:bodyPr wrap="square" lIns="0" tIns="0" rIns="0" bIns="0" rtlCol="0" anchor="t">
            <a:spAutoFit/>
          </a:bodyPr>
          <a:lstStyle/>
          <a:p>
            <a:pPr algn="ctr">
              <a:lnSpc>
                <a:spcPts val="12880"/>
              </a:lnSpc>
            </a:pPr>
            <a:r>
              <a:rPr lang="en-US" sz="9200" b="1" dirty="0">
                <a:solidFill>
                  <a:srgbClr val="000000"/>
                </a:solidFill>
                <a:latin typeface="Be Vietnam Ultra-Bold"/>
                <a:ea typeface="Be Vietnam Ultra-Bold"/>
                <a:cs typeface="Be Vietnam Ultra-Bold"/>
                <a:sym typeface="Be Vietnam Ultra-Bold"/>
              </a:rPr>
              <a:t>METHODOLOGY</a:t>
            </a:r>
          </a:p>
        </p:txBody>
      </p:sp>
      <p:sp>
        <p:nvSpPr>
          <p:cNvPr id="15" name="TextBox 15"/>
          <p:cNvSpPr txBox="1"/>
          <p:nvPr/>
        </p:nvSpPr>
        <p:spPr>
          <a:xfrm>
            <a:off x="350636" y="3364516"/>
            <a:ext cx="12980367"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Incremental Development Model: </a:t>
            </a:r>
            <a:r>
              <a:rPr lang="en-US" sz="2959">
                <a:solidFill>
                  <a:srgbClr val="000000"/>
                </a:solidFill>
                <a:latin typeface="Canva Sans"/>
                <a:ea typeface="Canva Sans"/>
                <a:cs typeface="Canva Sans"/>
                <a:sym typeface="Canva Sans"/>
              </a:rPr>
              <a:t>Structured delivery through 5 focused increments with feedback loops.</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
        <p:nvSpPr>
          <p:cNvPr id="16" name="TextBox 16"/>
          <p:cNvSpPr txBox="1"/>
          <p:nvPr/>
        </p:nvSpPr>
        <p:spPr>
          <a:xfrm>
            <a:off x="350636" y="6830412"/>
            <a:ext cx="12980367"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Audio &amp; Smart features: </a:t>
            </a:r>
            <a:r>
              <a:rPr lang="en-US" sz="2959">
                <a:solidFill>
                  <a:srgbClr val="000000"/>
                </a:solidFill>
                <a:latin typeface="Canva Sans"/>
                <a:ea typeface="Canva Sans"/>
                <a:cs typeface="Canva Sans"/>
                <a:sym typeface="Canva Sans"/>
              </a:rPr>
              <a:t>Narrated anatomy walkthroughs with audio delay sync &amp; camera explorer integration.</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
        <p:nvSpPr>
          <p:cNvPr id="17" name="TextBox 17"/>
          <p:cNvSpPr txBox="1"/>
          <p:nvPr/>
        </p:nvSpPr>
        <p:spPr>
          <a:xfrm>
            <a:off x="350636" y="4438615"/>
            <a:ext cx="15183945"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Requirement Analysis: </a:t>
            </a:r>
            <a:r>
              <a:rPr lang="en-US" sz="2959">
                <a:solidFill>
                  <a:srgbClr val="000000"/>
                </a:solidFill>
                <a:latin typeface="Canva Sans"/>
                <a:ea typeface="Canva Sans"/>
                <a:cs typeface="Canva Sans"/>
                <a:sym typeface="Canva Sans"/>
              </a:rPr>
              <a:t>Identify user needs for navigation, anatomy, animation, and disease modules.</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
        <p:nvSpPr>
          <p:cNvPr id="18" name="TextBox 18"/>
          <p:cNvSpPr txBox="1"/>
          <p:nvPr/>
        </p:nvSpPr>
        <p:spPr>
          <a:xfrm>
            <a:off x="350636" y="2303014"/>
            <a:ext cx="13769841"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System Design and Implementation: </a:t>
            </a:r>
            <a:r>
              <a:rPr lang="en-US" sz="2959">
                <a:solidFill>
                  <a:srgbClr val="000000"/>
                </a:solidFill>
                <a:latin typeface="Canva Sans"/>
                <a:ea typeface="Canva Sans"/>
                <a:cs typeface="Canva Sans"/>
                <a:sym typeface="Canva Sans"/>
              </a:rPr>
              <a:t>Unity(VR Room +Navbar), Blender(3D kidney and nephron models), Meta Quest 2 headset deployment.</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
        <p:nvSpPr>
          <p:cNvPr id="19" name="TextBox 19"/>
          <p:cNvSpPr txBox="1"/>
          <p:nvPr/>
        </p:nvSpPr>
        <p:spPr>
          <a:xfrm>
            <a:off x="350636" y="5594388"/>
            <a:ext cx="14235490"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3D Modeling and Animation: </a:t>
            </a:r>
            <a:r>
              <a:rPr lang="en-US" sz="2959">
                <a:solidFill>
                  <a:srgbClr val="000000"/>
                </a:solidFill>
                <a:latin typeface="Canva Sans"/>
                <a:ea typeface="Canva Sans"/>
                <a:cs typeface="Canva Sans"/>
                <a:sym typeface="Canva Sans"/>
              </a:rPr>
              <a:t>3D</a:t>
            </a:r>
            <a:r>
              <a:rPr lang="en-US" sz="2959" b="1">
                <a:solidFill>
                  <a:srgbClr val="000000"/>
                </a:solidFill>
                <a:latin typeface="Canva Sans Bold"/>
                <a:ea typeface="Canva Sans Bold"/>
                <a:cs typeface="Canva Sans Bold"/>
                <a:sym typeface="Canva Sans Bold"/>
              </a:rPr>
              <a:t> </a:t>
            </a:r>
            <a:r>
              <a:rPr lang="en-US" sz="2959">
                <a:solidFill>
                  <a:srgbClr val="000000"/>
                </a:solidFill>
                <a:latin typeface="Canva Sans"/>
                <a:ea typeface="Canva Sans"/>
                <a:cs typeface="Canva Sans"/>
                <a:sym typeface="Canva Sans"/>
              </a:rPr>
              <a:t>kidney and Nephron models, Kidney filtration animation, PKD &amp; Kidney stone Diseases.</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
        <p:nvSpPr>
          <p:cNvPr id="20" name="TextBox 20"/>
          <p:cNvSpPr txBox="1"/>
          <p:nvPr/>
        </p:nvSpPr>
        <p:spPr>
          <a:xfrm>
            <a:off x="350636" y="8130602"/>
            <a:ext cx="12980367" cy="1553597"/>
          </a:xfrm>
          <a:prstGeom prst="rect">
            <a:avLst/>
          </a:prstGeom>
        </p:spPr>
        <p:txBody>
          <a:bodyPr lIns="0" tIns="0" rIns="0" bIns="0" rtlCol="0" anchor="t">
            <a:spAutoFit/>
          </a:bodyPr>
          <a:lstStyle/>
          <a:p>
            <a:pPr algn="l">
              <a:lnSpc>
                <a:spcPts val="4143"/>
              </a:lnSpc>
            </a:pPr>
            <a:r>
              <a:rPr lang="en-US" sz="2959" b="1">
                <a:solidFill>
                  <a:srgbClr val="000000"/>
                </a:solidFill>
                <a:latin typeface="Canva Sans Bold"/>
                <a:ea typeface="Canva Sans Bold"/>
                <a:cs typeface="Canva Sans Bold"/>
                <a:sym typeface="Canva Sans Bold"/>
              </a:rPr>
              <a:t>Testing &amp; Validation: </a:t>
            </a:r>
            <a:r>
              <a:rPr lang="en-US" sz="2959">
                <a:solidFill>
                  <a:srgbClr val="000000"/>
                </a:solidFill>
                <a:latin typeface="Canva Sans"/>
                <a:ea typeface="Canva Sans"/>
                <a:cs typeface="Canva Sans"/>
                <a:sym typeface="Canva Sans"/>
              </a:rPr>
              <a:t>Ensure usability, performance, and accuracy across all VR headset environments. </a:t>
            </a:r>
          </a:p>
          <a:p>
            <a:pPr algn="ctr">
              <a:lnSpc>
                <a:spcPts val="4143"/>
              </a:lnSpc>
              <a:spcBef>
                <a:spcPct val="0"/>
              </a:spcBef>
            </a:pPr>
            <a:endParaRPr lang="en-US" sz="2959">
              <a:solidFill>
                <a:srgbClr val="000000"/>
              </a:solidFill>
              <a:latin typeface="Canva Sans"/>
              <a:ea typeface="Canva Sans"/>
              <a:cs typeface="Canva Sans"/>
              <a:sym typeface="Canv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Freeform 2"/>
          <p:cNvSpPr/>
          <p:nvPr/>
        </p:nvSpPr>
        <p:spPr>
          <a:xfrm>
            <a:off x="5562312" y="2648348"/>
            <a:ext cx="7478658" cy="4990305"/>
          </a:xfrm>
          <a:custGeom>
            <a:avLst/>
            <a:gdLst/>
            <a:ahLst/>
            <a:cxnLst/>
            <a:rect l="l" t="t" r="r" b="b"/>
            <a:pathLst>
              <a:path w="7478658" h="4990305">
                <a:moveTo>
                  <a:pt x="0" y="0"/>
                </a:moveTo>
                <a:lnTo>
                  <a:pt x="7478658" y="0"/>
                </a:lnTo>
                <a:lnTo>
                  <a:pt x="7478658" y="4990304"/>
                </a:lnTo>
                <a:lnTo>
                  <a:pt x="0" y="4990304"/>
                </a:lnTo>
                <a:lnTo>
                  <a:pt x="0" y="0"/>
                </a:lnTo>
                <a:close/>
              </a:path>
            </a:pathLst>
          </a:custGeom>
          <a:blipFill>
            <a:blip r:embed="rId2"/>
            <a:stretch>
              <a:fillRect/>
            </a:stretch>
          </a:blipFill>
        </p:spPr>
        <p:txBody>
          <a:bodyPr/>
          <a:lstStyle/>
          <a:p>
            <a:endParaRPr lang="en-US"/>
          </a:p>
        </p:txBody>
      </p:sp>
      <p:sp>
        <p:nvSpPr>
          <p:cNvPr id="3" name="Freeform 3"/>
          <p:cNvSpPr/>
          <p:nvPr/>
        </p:nvSpPr>
        <p:spPr>
          <a:xfrm>
            <a:off x="6550209" y="2747193"/>
            <a:ext cx="5187581" cy="3403825"/>
          </a:xfrm>
          <a:custGeom>
            <a:avLst/>
            <a:gdLst/>
            <a:ahLst/>
            <a:cxnLst/>
            <a:rect l="l" t="t" r="r" b="b"/>
            <a:pathLst>
              <a:path w="5187581" h="3403825">
                <a:moveTo>
                  <a:pt x="0" y="0"/>
                </a:moveTo>
                <a:lnTo>
                  <a:pt x="5187582" y="0"/>
                </a:lnTo>
                <a:lnTo>
                  <a:pt x="5187582" y="3403825"/>
                </a:lnTo>
                <a:lnTo>
                  <a:pt x="0" y="3403825"/>
                </a:lnTo>
                <a:lnTo>
                  <a:pt x="0" y="0"/>
                </a:lnTo>
                <a:close/>
              </a:path>
            </a:pathLst>
          </a:custGeom>
          <a:blipFill>
            <a:blip r:embed="rId3"/>
            <a:stretch>
              <a:fillRect t="-26202" b="-26202"/>
            </a:stretch>
          </a:blipFill>
        </p:spPr>
        <p:txBody>
          <a:bodyPr/>
          <a:lstStyle/>
          <a:p>
            <a:endParaRPr lang="en-US"/>
          </a:p>
        </p:txBody>
      </p:sp>
      <p:sp>
        <p:nvSpPr>
          <p:cNvPr id="4" name="TextBox 4"/>
          <p:cNvSpPr txBox="1"/>
          <p:nvPr/>
        </p:nvSpPr>
        <p:spPr>
          <a:xfrm>
            <a:off x="927206" y="2127005"/>
            <a:ext cx="3020020" cy="755016"/>
          </a:xfrm>
          <a:prstGeom prst="rect">
            <a:avLst/>
          </a:prstGeom>
        </p:spPr>
        <p:txBody>
          <a:bodyPr lIns="0" tIns="0" rIns="0" bIns="0" rtlCol="0" anchor="t">
            <a:spAutoFit/>
          </a:bodyPr>
          <a:lstStyle/>
          <a:p>
            <a:pPr algn="ctr">
              <a:lnSpc>
                <a:spcPts val="6159"/>
              </a:lnSpc>
              <a:spcBef>
                <a:spcPct val="0"/>
              </a:spcBef>
            </a:pPr>
            <a:r>
              <a:rPr lang="en-US" sz="4399" b="1" i="1">
                <a:solidFill>
                  <a:srgbClr val="000000"/>
                </a:solidFill>
                <a:latin typeface="Be Vietnam Ultra-Bold Italics"/>
                <a:ea typeface="Be Vietnam Ultra-Bold Italics"/>
                <a:cs typeface="Be Vietnam Ultra-Bold Italics"/>
                <a:sym typeface="Be Vietnam Ultra-Bold Italics"/>
              </a:rPr>
              <a:t>HARDWARE</a:t>
            </a:r>
          </a:p>
        </p:txBody>
      </p:sp>
      <p:sp>
        <p:nvSpPr>
          <p:cNvPr id="5" name="TextBox 5"/>
          <p:cNvSpPr txBox="1"/>
          <p:nvPr/>
        </p:nvSpPr>
        <p:spPr>
          <a:xfrm>
            <a:off x="13794396" y="2227977"/>
            <a:ext cx="2921099" cy="755016"/>
          </a:xfrm>
          <a:prstGeom prst="rect">
            <a:avLst/>
          </a:prstGeom>
        </p:spPr>
        <p:txBody>
          <a:bodyPr lIns="0" tIns="0" rIns="0" bIns="0" rtlCol="0" anchor="t">
            <a:spAutoFit/>
          </a:bodyPr>
          <a:lstStyle/>
          <a:p>
            <a:pPr algn="ctr">
              <a:lnSpc>
                <a:spcPts val="6159"/>
              </a:lnSpc>
              <a:spcBef>
                <a:spcPct val="0"/>
              </a:spcBef>
            </a:pPr>
            <a:r>
              <a:rPr lang="en-US" sz="4399" b="1" i="1">
                <a:solidFill>
                  <a:srgbClr val="000000"/>
                </a:solidFill>
                <a:latin typeface="Be Vietnam Ultra-Bold Italics"/>
                <a:ea typeface="Be Vietnam Ultra-Bold Italics"/>
                <a:cs typeface="Be Vietnam Ultra-Bold Italics"/>
                <a:sym typeface="Be Vietnam Ultra-Bold Italics"/>
              </a:rPr>
              <a:t>SOFTWARE</a:t>
            </a:r>
          </a:p>
        </p:txBody>
      </p:sp>
      <p:sp>
        <p:nvSpPr>
          <p:cNvPr id="6" name="TextBox 6"/>
          <p:cNvSpPr txBox="1"/>
          <p:nvPr/>
        </p:nvSpPr>
        <p:spPr>
          <a:xfrm>
            <a:off x="6095002" y="5658032"/>
            <a:ext cx="6346627" cy="396240"/>
          </a:xfrm>
          <a:prstGeom prst="rect">
            <a:avLst/>
          </a:prstGeom>
        </p:spPr>
        <p:txBody>
          <a:bodyPr lIns="0" tIns="0" rIns="0" bIns="0" rtlCol="0" anchor="t">
            <a:spAutoFit/>
          </a:bodyPr>
          <a:lstStyle/>
          <a:p>
            <a:pPr algn="ctr">
              <a:lnSpc>
                <a:spcPts val="3359"/>
              </a:lnSpc>
              <a:spcBef>
                <a:spcPct val="0"/>
              </a:spcBef>
            </a:pPr>
            <a:r>
              <a:rPr lang="en-US" sz="2400" i="1">
                <a:solidFill>
                  <a:srgbClr val="000000"/>
                </a:solidFill>
                <a:latin typeface="Canva Sans Italics"/>
                <a:ea typeface="Canva Sans Italics"/>
                <a:cs typeface="Canva Sans Italics"/>
                <a:sym typeface="Canva Sans Italics"/>
              </a:rPr>
              <a:t>VR Anatomy Learning: Kidney Visualization</a:t>
            </a:r>
          </a:p>
        </p:txBody>
      </p:sp>
      <p:sp>
        <p:nvSpPr>
          <p:cNvPr id="7" name="TextBox 7"/>
          <p:cNvSpPr txBox="1"/>
          <p:nvPr/>
        </p:nvSpPr>
        <p:spPr>
          <a:xfrm>
            <a:off x="673407" y="5086350"/>
            <a:ext cx="4888905" cy="2114550"/>
          </a:xfrm>
          <a:prstGeom prst="rect">
            <a:avLst/>
          </a:prstGeom>
        </p:spPr>
        <p:txBody>
          <a:bodyPr lIns="0" tIns="0" rIns="0" bIns="0" rtlCol="0" anchor="t">
            <a:spAutoFit/>
          </a:bodyPr>
          <a:lstStyle/>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Meta Quest 2 </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VR Controllers </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High-Performance </a:t>
            </a:r>
          </a:p>
          <a:p>
            <a:pPr algn="l">
              <a:lnSpc>
                <a:spcPts val="4200"/>
              </a:lnSpc>
            </a:pPr>
            <a:r>
              <a:rPr lang="en-US" sz="3000" i="1">
                <a:solidFill>
                  <a:srgbClr val="000000"/>
                </a:solidFill>
                <a:latin typeface="Canva Sans Italics"/>
                <a:ea typeface="Canva Sans Italics"/>
                <a:cs typeface="Canva Sans Italics"/>
                <a:sym typeface="Canva Sans Italics"/>
              </a:rPr>
              <a:t>      PC with Dedicated GPU</a:t>
            </a:r>
          </a:p>
        </p:txBody>
      </p:sp>
      <p:sp>
        <p:nvSpPr>
          <p:cNvPr id="8" name="TextBox 8"/>
          <p:cNvSpPr txBox="1"/>
          <p:nvPr/>
        </p:nvSpPr>
        <p:spPr>
          <a:xfrm>
            <a:off x="13455317" y="3227252"/>
            <a:ext cx="4709914" cy="2647950"/>
          </a:xfrm>
          <a:prstGeom prst="rect">
            <a:avLst/>
          </a:prstGeom>
        </p:spPr>
        <p:txBody>
          <a:bodyPr lIns="0" tIns="0" rIns="0" bIns="0" rtlCol="0" anchor="t">
            <a:spAutoFit/>
          </a:bodyPr>
          <a:lstStyle/>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Unity 3D</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XR Interaction Toolkit </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Blender</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C# Scripting</a:t>
            </a:r>
          </a:p>
          <a:p>
            <a:pPr marL="647700" lvl="1" indent="-323850" algn="l">
              <a:lnSpc>
                <a:spcPts val="4200"/>
              </a:lnSpc>
              <a:buFont typeface="Arial"/>
              <a:buChar char="•"/>
            </a:pPr>
            <a:r>
              <a:rPr lang="en-US" sz="3000" i="1">
                <a:solidFill>
                  <a:srgbClr val="000000"/>
                </a:solidFill>
                <a:latin typeface="Canva Sans Italics"/>
                <a:ea typeface="Canva Sans Italics"/>
                <a:cs typeface="Canva Sans Italics"/>
                <a:sym typeface="Canva Sans Italics"/>
              </a:rPr>
              <a:t>Sketchfab (Assets)</a:t>
            </a:r>
          </a:p>
        </p:txBody>
      </p:sp>
      <p:sp>
        <p:nvSpPr>
          <p:cNvPr id="9" name="TextBox 9"/>
          <p:cNvSpPr txBox="1"/>
          <p:nvPr/>
        </p:nvSpPr>
        <p:spPr>
          <a:xfrm>
            <a:off x="2126530" y="159703"/>
            <a:ext cx="14789870" cy="1497526"/>
          </a:xfrm>
          <a:prstGeom prst="rect">
            <a:avLst/>
          </a:prstGeom>
        </p:spPr>
        <p:txBody>
          <a:bodyPr wrap="square" lIns="0" tIns="0" rIns="0" bIns="0" rtlCol="0" anchor="t">
            <a:spAutoFit/>
          </a:bodyPr>
          <a:lstStyle/>
          <a:p>
            <a:pPr algn="ctr">
              <a:lnSpc>
                <a:spcPts val="12880"/>
              </a:lnSpc>
            </a:pPr>
            <a:r>
              <a:rPr lang="en-US" sz="9200" b="1" dirty="0">
                <a:solidFill>
                  <a:srgbClr val="831170"/>
                </a:solidFill>
                <a:latin typeface="Be Vietnam Ultra-Bold"/>
                <a:ea typeface="Be Vietnam Ultra-Bold"/>
                <a:cs typeface="Be Vietnam Ultra-Bold"/>
                <a:sym typeface="Be Vietnam Ultra-Bold"/>
              </a:rPr>
              <a:t>TOOLS </a:t>
            </a:r>
            <a:r>
              <a:rPr lang="en-US" sz="9200" b="1" dirty="0">
                <a:solidFill>
                  <a:srgbClr val="000000"/>
                </a:solidFill>
                <a:latin typeface="Be Vietnam Ultra-Bold"/>
                <a:ea typeface="Be Vietnam Ultra-Bold"/>
                <a:cs typeface="Be Vietnam Ultra-Bold"/>
                <a:sym typeface="Be Vietnam Ultra-Bold"/>
              </a:rPr>
              <a:t>AND TECHNOLOGY</a:t>
            </a:r>
          </a:p>
        </p:txBody>
      </p:sp>
      <p:grpSp>
        <p:nvGrpSpPr>
          <p:cNvPr id="10" name="Group 10"/>
          <p:cNvGrpSpPr/>
          <p:nvPr/>
        </p:nvGrpSpPr>
        <p:grpSpPr>
          <a:xfrm>
            <a:off x="15146945" y="9258300"/>
            <a:ext cx="2887313" cy="802001"/>
            <a:chOff x="0" y="0"/>
            <a:chExt cx="3849751" cy="1069334"/>
          </a:xfrm>
        </p:grpSpPr>
        <p:grpSp>
          <p:nvGrpSpPr>
            <p:cNvPr id="11" name="Group 11"/>
            <p:cNvGrpSpPr/>
            <p:nvPr/>
          </p:nvGrpSpPr>
          <p:grpSpPr>
            <a:xfrm>
              <a:off x="0" y="0"/>
              <a:ext cx="3849751" cy="1069334"/>
              <a:chOff x="0" y="0"/>
              <a:chExt cx="1033028" cy="286941"/>
            </a:xfrm>
          </p:grpSpPr>
          <p:sp>
            <p:nvSpPr>
              <p:cNvPr id="12" name="Freeform 12"/>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13" name="TextBox 13"/>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2772734" y="0"/>
              <a:ext cx="1077017" cy="1069334"/>
              <a:chOff x="0" y="0"/>
              <a:chExt cx="289003" cy="286941"/>
            </a:xfrm>
          </p:grpSpPr>
          <p:sp>
            <p:nvSpPr>
              <p:cNvPr id="15" name="Freeform 15"/>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16" name="TextBox 16"/>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7" name="Freeform 17"/>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8" name="TextBox 18"/>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sp>
        <p:nvSpPr>
          <p:cNvPr id="19" name="TextBox 19"/>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id="20" name="Freeform 20"/>
          <p:cNvSpPr/>
          <p:nvPr/>
        </p:nvSpPr>
        <p:spPr>
          <a:xfrm rot="-1373423">
            <a:off x="12574895" y="6980985"/>
            <a:ext cx="3149322" cy="263398"/>
          </a:xfrm>
          <a:custGeom>
            <a:avLst/>
            <a:gdLst/>
            <a:ahLst/>
            <a:cxnLst/>
            <a:rect l="l" t="t" r="r" b="b"/>
            <a:pathLst>
              <a:path w="3149322" h="263398">
                <a:moveTo>
                  <a:pt x="0" y="0"/>
                </a:moveTo>
                <a:lnTo>
                  <a:pt x="3149321" y="0"/>
                </a:lnTo>
                <a:lnTo>
                  <a:pt x="3149321" y="263398"/>
                </a:lnTo>
                <a:lnTo>
                  <a:pt x="0" y="26339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rot="8772696">
            <a:off x="2324523" y="3626700"/>
            <a:ext cx="3245408" cy="271434"/>
          </a:xfrm>
          <a:custGeom>
            <a:avLst/>
            <a:gdLst/>
            <a:ahLst/>
            <a:cxnLst/>
            <a:rect l="l" t="t" r="r" b="b"/>
            <a:pathLst>
              <a:path w="3245408" h="271434">
                <a:moveTo>
                  <a:pt x="0" y="0"/>
                </a:moveTo>
                <a:lnTo>
                  <a:pt x="3245408" y="0"/>
                </a:lnTo>
                <a:lnTo>
                  <a:pt x="3245408" y="271434"/>
                </a:lnTo>
                <a:lnTo>
                  <a:pt x="0" y="2714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287506" y="159703"/>
            <a:ext cx="15961619" cy="1566544"/>
          </a:xfrm>
          <a:prstGeom prst="rect">
            <a:avLst/>
          </a:prstGeom>
        </p:spPr>
        <p:txBody>
          <a:bodyPr lIns="0" tIns="0" rIns="0" bIns="0" rtlCol="0" anchor="t">
            <a:spAutoFit/>
          </a:bodyPr>
          <a:lstStyle/>
          <a:p>
            <a:pPr algn="ctr">
              <a:lnSpc>
                <a:spcPts val="12880"/>
              </a:lnSpc>
            </a:pPr>
            <a:r>
              <a:rPr lang="en-US" sz="9200" b="1">
                <a:solidFill>
                  <a:srgbClr val="831170"/>
                </a:solidFill>
                <a:latin typeface="Be Vietnam Ultra-Bold"/>
                <a:ea typeface="Be Vietnam Ultra-Bold"/>
                <a:cs typeface="Be Vietnam Ultra-Bold"/>
                <a:sym typeface="Be Vietnam Ultra-Bold"/>
              </a:rPr>
              <a:t>FUNCTIONAL </a:t>
            </a:r>
            <a:r>
              <a:rPr lang="en-US" sz="9200" b="1">
                <a:solidFill>
                  <a:srgbClr val="000000"/>
                </a:solidFill>
                <a:latin typeface="Be Vietnam Ultra-Bold"/>
                <a:ea typeface="Be Vietnam Ultra-Bold"/>
                <a:cs typeface="Be Vietnam Ultra-Bold"/>
                <a:sym typeface="Be Vietnam Ultra-Bold"/>
              </a:rPr>
              <a:t>REQUIREMENTS</a:t>
            </a:r>
          </a:p>
        </p:txBody>
      </p:sp>
      <p:grpSp>
        <p:nvGrpSpPr>
          <p:cNvPr id="3" name="Group 3"/>
          <p:cNvGrpSpPr/>
          <p:nvPr/>
        </p:nvGrpSpPr>
        <p:grpSpPr>
          <a:xfrm>
            <a:off x="15146945" y="9258300"/>
            <a:ext cx="2887313" cy="802001"/>
            <a:chOff x="0" y="0"/>
            <a:chExt cx="3849751" cy="1069334"/>
          </a:xfrm>
        </p:grpSpPr>
        <p:grpSp>
          <p:nvGrpSpPr>
            <p:cNvPr id="4" name="Group 4"/>
            <p:cNvGrpSpPr/>
            <p:nvPr/>
          </p:nvGrpSpPr>
          <p:grpSpPr>
            <a:xfrm>
              <a:off x="0" y="0"/>
              <a:ext cx="3849751" cy="1069334"/>
              <a:chOff x="0" y="0"/>
              <a:chExt cx="1033028" cy="286941"/>
            </a:xfrm>
          </p:grpSpPr>
          <p:sp>
            <p:nvSpPr>
              <p:cNvPr id="5" name="Freeform 5"/>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6" name="TextBox 6"/>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772734" y="0"/>
              <a:ext cx="1077017" cy="1069334"/>
              <a:chOff x="0" y="0"/>
              <a:chExt cx="289003" cy="286941"/>
            </a:xfrm>
          </p:grpSpPr>
          <p:sp>
            <p:nvSpPr>
              <p:cNvPr id="8" name="Freeform 8"/>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9" name="TextBox 9"/>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TextBox 11"/>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grpSp>
        <p:nvGrpSpPr>
          <p:cNvPr id="12" name="Group 12"/>
          <p:cNvGrpSpPr/>
          <p:nvPr/>
        </p:nvGrpSpPr>
        <p:grpSpPr>
          <a:xfrm>
            <a:off x="484582" y="4374011"/>
            <a:ext cx="5042559" cy="1345101"/>
            <a:chOff x="0" y="0"/>
            <a:chExt cx="6723412" cy="1793468"/>
          </a:xfrm>
        </p:grpSpPr>
        <p:grpSp>
          <p:nvGrpSpPr>
            <p:cNvPr id="13" name="Group 13"/>
            <p:cNvGrpSpPr/>
            <p:nvPr/>
          </p:nvGrpSpPr>
          <p:grpSpPr>
            <a:xfrm>
              <a:off x="323852" y="355600"/>
              <a:ext cx="6399560" cy="1437868"/>
              <a:chOff x="0" y="0"/>
              <a:chExt cx="1264111" cy="284023"/>
            </a:xfrm>
          </p:grpSpPr>
          <p:sp>
            <p:nvSpPr>
              <p:cNvPr id="14" name="Freeform 14"/>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E2CBF6"/>
              </a:solidFill>
            </p:spPr>
            <p:txBody>
              <a:bodyPr/>
              <a:lstStyle/>
              <a:p>
                <a:endParaRPr lang="en-US"/>
              </a:p>
            </p:txBody>
          </p:sp>
          <p:sp>
            <p:nvSpPr>
              <p:cNvPr id="15" name="TextBox 15"/>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000000"/>
                    </a:solidFill>
                    <a:latin typeface="Be Vietnam Italics"/>
                    <a:ea typeface="Be Vietnam Italics"/>
                    <a:cs typeface="Be Vietnam Italics"/>
                    <a:sym typeface="Be Vietnam Italics"/>
                  </a:rPr>
                  <a:t>VR Environment Navigation</a:t>
                </a:r>
              </a:p>
            </p:txBody>
          </p:sp>
        </p:grpSp>
        <p:sp>
          <p:nvSpPr>
            <p:cNvPr id="16" name="Freeform 16"/>
            <p:cNvSpPr/>
            <p:nvPr/>
          </p:nvSpPr>
          <p:spPr>
            <a:xfrm>
              <a:off x="0" y="0"/>
              <a:ext cx="947020" cy="947020"/>
            </a:xfrm>
            <a:custGeom>
              <a:avLst/>
              <a:gdLst/>
              <a:ahLst/>
              <a:cxnLst/>
              <a:rect l="l" t="t" r="r" b="b"/>
              <a:pathLst>
                <a:path w="947020" h="947020">
                  <a:moveTo>
                    <a:pt x="0" y="0"/>
                  </a:moveTo>
                  <a:lnTo>
                    <a:pt x="947020" y="0"/>
                  </a:lnTo>
                  <a:lnTo>
                    <a:pt x="947020" y="947020"/>
                  </a:lnTo>
                  <a:lnTo>
                    <a:pt x="0" y="9470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17" name="Group 17"/>
          <p:cNvGrpSpPr/>
          <p:nvPr/>
        </p:nvGrpSpPr>
        <p:grpSpPr>
          <a:xfrm>
            <a:off x="12834405" y="7697772"/>
            <a:ext cx="4799670" cy="1078401"/>
            <a:chOff x="0" y="0"/>
            <a:chExt cx="1264111" cy="284023"/>
          </a:xfrm>
        </p:grpSpPr>
        <p:sp>
          <p:nvSpPr>
            <p:cNvPr id="18" name="Freeform 18"/>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E2CBF6"/>
            </a:solidFill>
          </p:spPr>
          <p:txBody>
            <a:bodyPr/>
            <a:lstStyle/>
            <a:p>
              <a:endParaRPr lang="en-US"/>
            </a:p>
          </p:txBody>
        </p:sp>
        <p:sp>
          <p:nvSpPr>
            <p:cNvPr id="19" name="TextBox 19"/>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000000"/>
                  </a:solidFill>
                  <a:latin typeface="Be Vietnam Italics"/>
                  <a:ea typeface="Be Vietnam Italics"/>
                  <a:cs typeface="Be Vietnam Italics"/>
                  <a:sym typeface="Be Vietnam Italics"/>
                </a:rPr>
                <a:t>Anatomical Position Visualization</a:t>
              </a:r>
            </a:p>
          </p:txBody>
        </p:sp>
      </p:grpSp>
      <p:sp>
        <p:nvSpPr>
          <p:cNvPr id="20" name="Freeform 20"/>
          <p:cNvSpPr/>
          <p:nvPr/>
        </p:nvSpPr>
        <p:spPr>
          <a:xfrm>
            <a:off x="12581010" y="7429284"/>
            <a:ext cx="710265" cy="710265"/>
          </a:xfrm>
          <a:custGeom>
            <a:avLst/>
            <a:gdLst/>
            <a:ahLst/>
            <a:cxnLst/>
            <a:rect l="l" t="t" r="r" b="b"/>
            <a:pathLst>
              <a:path w="710265" h="710265">
                <a:moveTo>
                  <a:pt x="0" y="0"/>
                </a:moveTo>
                <a:lnTo>
                  <a:pt x="710265" y="0"/>
                </a:lnTo>
                <a:lnTo>
                  <a:pt x="710265" y="710265"/>
                </a:lnTo>
                <a:lnTo>
                  <a:pt x="0" y="7102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1" name="Group 21"/>
          <p:cNvGrpSpPr/>
          <p:nvPr/>
        </p:nvGrpSpPr>
        <p:grpSpPr>
          <a:xfrm>
            <a:off x="484582" y="6090587"/>
            <a:ext cx="5025477" cy="1322616"/>
            <a:chOff x="0" y="0"/>
            <a:chExt cx="6700636" cy="1763489"/>
          </a:xfrm>
        </p:grpSpPr>
        <p:grpSp>
          <p:nvGrpSpPr>
            <p:cNvPr id="22" name="Group 22"/>
            <p:cNvGrpSpPr/>
            <p:nvPr/>
          </p:nvGrpSpPr>
          <p:grpSpPr>
            <a:xfrm>
              <a:off x="301076" y="325621"/>
              <a:ext cx="6399560" cy="1437868"/>
              <a:chOff x="0" y="0"/>
              <a:chExt cx="1264111" cy="284023"/>
            </a:xfrm>
          </p:grpSpPr>
          <p:sp>
            <p:nvSpPr>
              <p:cNvPr id="23" name="Freeform 23"/>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262626"/>
              </a:solidFill>
            </p:spPr>
            <p:txBody>
              <a:bodyPr/>
              <a:lstStyle/>
              <a:p>
                <a:endParaRPr lang="en-US"/>
              </a:p>
            </p:txBody>
          </p:sp>
          <p:sp>
            <p:nvSpPr>
              <p:cNvPr id="24" name="TextBox 24"/>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FFFFFF"/>
                    </a:solidFill>
                    <a:latin typeface="Be Vietnam Italics"/>
                    <a:ea typeface="Be Vietnam Italics"/>
                    <a:cs typeface="Be Vietnam Italics"/>
                    <a:sym typeface="Be Vietnam Italics"/>
                  </a:rPr>
                  <a:t>Kidney Model Visualization</a:t>
                </a:r>
              </a:p>
            </p:txBody>
          </p:sp>
        </p:grpSp>
        <p:sp>
          <p:nvSpPr>
            <p:cNvPr id="25" name="Freeform 25"/>
            <p:cNvSpPr/>
            <p:nvPr/>
          </p:nvSpPr>
          <p:spPr>
            <a:xfrm>
              <a:off x="0" y="0"/>
              <a:ext cx="947020" cy="947020"/>
            </a:xfrm>
            <a:custGeom>
              <a:avLst/>
              <a:gdLst/>
              <a:ahLst/>
              <a:cxnLst/>
              <a:rect l="l" t="t" r="r" b="b"/>
              <a:pathLst>
                <a:path w="947020" h="947020">
                  <a:moveTo>
                    <a:pt x="0" y="0"/>
                  </a:moveTo>
                  <a:lnTo>
                    <a:pt x="947020" y="0"/>
                  </a:lnTo>
                  <a:lnTo>
                    <a:pt x="947020" y="947020"/>
                  </a:lnTo>
                  <a:lnTo>
                    <a:pt x="0" y="9470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26" name="Group 26"/>
          <p:cNvGrpSpPr/>
          <p:nvPr/>
        </p:nvGrpSpPr>
        <p:grpSpPr>
          <a:xfrm>
            <a:off x="428461" y="2556738"/>
            <a:ext cx="5154803" cy="1313075"/>
            <a:chOff x="0" y="0"/>
            <a:chExt cx="6873070" cy="1750767"/>
          </a:xfrm>
        </p:grpSpPr>
        <p:grpSp>
          <p:nvGrpSpPr>
            <p:cNvPr id="27" name="Group 27"/>
            <p:cNvGrpSpPr/>
            <p:nvPr/>
          </p:nvGrpSpPr>
          <p:grpSpPr>
            <a:xfrm>
              <a:off x="473510" y="312899"/>
              <a:ext cx="6399560" cy="1437868"/>
              <a:chOff x="0" y="0"/>
              <a:chExt cx="1264111" cy="284023"/>
            </a:xfrm>
          </p:grpSpPr>
          <p:sp>
            <p:nvSpPr>
              <p:cNvPr id="28" name="Freeform 28"/>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262626"/>
              </a:solidFill>
            </p:spPr>
            <p:txBody>
              <a:bodyPr/>
              <a:lstStyle/>
              <a:p>
                <a:endParaRPr lang="en-US"/>
              </a:p>
            </p:txBody>
          </p:sp>
          <p:sp>
            <p:nvSpPr>
              <p:cNvPr id="29" name="TextBox 29"/>
              <p:cNvSpPr txBox="1"/>
              <p:nvPr/>
            </p:nvSpPr>
            <p:spPr>
              <a:xfrm>
                <a:off x="0" y="-28575"/>
                <a:ext cx="1264111" cy="312598"/>
              </a:xfrm>
              <a:prstGeom prst="rect">
                <a:avLst/>
              </a:prstGeom>
            </p:spPr>
            <p:txBody>
              <a:bodyPr lIns="50800" tIns="50800" rIns="50800" bIns="50800" rtlCol="0" anchor="ctr"/>
              <a:lstStyle/>
              <a:p>
                <a:pPr algn="ctr">
                  <a:lnSpc>
                    <a:spcPts val="2659"/>
                  </a:lnSpc>
                </a:pPr>
                <a:endParaRPr/>
              </a:p>
            </p:txBody>
          </p:sp>
        </p:grpSp>
        <p:sp>
          <p:nvSpPr>
            <p:cNvPr id="30" name="TextBox 30"/>
            <p:cNvSpPr txBox="1"/>
            <p:nvPr/>
          </p:nvSpPr>
          <p:spPr>
            <a:xfrm>
              <a:off x="459990" y="761867"/>
              <a:ext cx="6413080"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 3D Anatomical Model Construction</a:t>
              </a:r>
            </a:p>
          </p:txBody>
        </p:sp>
        <p:sp>
          <p:nvSpPr>
            <p:cNvPr id="31" name="Freeform 31"/>
            <p:cNvSpPr/>
            <p:nvPr/>
          </p:nvSpPr>
          <p:spPr>
            <a:xfrm>
              <a:off x="0" y="0"/>
              <a:ext cx="947020" cy="947020"/>
            </a:xfrm>
            <a:custGeom>
              <a:avLst/>
              <a:gdLst/>
              <a:ahLst/>
              <a:cxnLst/>
              <a:rect l="l" t="t" r="r" b="b"/>
              <a:pathLst>
                <a:path w="947020" h="947020">
                  <a:moveTo>
                    <a:pt x="0" y="0"/>
                  </a:moveTo>
                  <a:lnTo>
                    <a:pt x="947020" y="0"/>
                  </a:lnTo>
                  <a:lnTo>
                    <a:pt x="947020" y="947020"/>
                  </a:lnTo>
                  <a:lnTo>
                    <a:pt x="0" y="9470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32" name="Group 32"/>
          <p:cNvGrpSpPr/>
          <p:nvPr/>
        </p:nvGrpSpPr>
        <p:grpSpPr>
          <a:xfrm>
            <a:off x="12747109" y="2911870"/>
            <a:ext cx="4799670" cy="1078401"/>
            <a:chOff x="0" y="0"/>
            <a:chExt cx="1264111" cy="284023"/>
          </a:xfrm>
        </p:grpSpPr>
        <p:sp>
          <p:nvSpPr>
            <p:cNvPr id="33" name="Freeform 33"/>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262626"/>
            </a:solidFill>
          </p:spPr>
          <p:txBody>
            <a:bodyPr/>
            <a:lstStyle/>
            <a:p>
              <a:endParaRPr lang="en-US"/>
            </a:p>
          </p:txBody>
        </p:sp>
        <p:sp>
          <p:nvSpPr>
            <p:cNvPr id="34" name="TextBox 34"/>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FFFFFF"/>
                  </a:solidFill>
                  <a:latin typeface="Be Vietnam Italics"/>
                  <a:ea typeface="Be Vietnam Italics"/>
                  <a:cs typeface="Be Vietnam Italics"/>
                  <a:sym typeface="Be Vietnam Italics"/>
                </a:rPr>
                <a:t>Nephron Model Visualization</a:t>
              </a:r>
            </a:p>
          </p:txBody>
        </p:sp>
      </p:grpSp>
      <p:sp>
        <p:nvSpPr>
          <p:cNvPr id="35" name="Freeform 35"/>
          <p:cNvSpPr/>
          <p:nvPr/>
        </p:nvSpPr>
        <p:spPr>
          <a:xfrm>
            <a:off x="12581010" y="2591799"/>
            <a:ext cx="710265" cy="710265"/>
          </a:xfrm>
          <a:custGeom>
            <a:avLst/>
            <a:gdLst/>
            <a:ahLst/>
            <a:cxnLst/>
            <a:rect l="l" t="t" r="r" b="b"/>
            <a:pathLst>
              <a:path w="710265" h="710265">
                <a:moveTo>
                  <a:pt x="0" y="0"/>
                </a:moveTo>
                <a:lnTo>
                  <a:pt x="710265" y="0"/>
                </a:lnTo>
                <a:lnTo>
                  <a:pt x="710265" y="710265"/>
                </a:lnTo>
                <a:lnTo>
                  <a:pt x="0" y="7102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6" name="Group 36"/>
          <p:cNvGrpSpPr/>
          <p:nvPr/>
        </p:nvGrpSpPr>
        <p:grpSpPr>
          <a:xfrm>
            <a:off x="6791323" y="8857405"/>
            <a:ext cx="4799670" cy="1078401"/>
            <a:chOff x="0" y="0"/>
            <a:chExt cx="1264111" cy="284023"/>
          </a:xfrm>
        </p:grpSpPr>
        <p:sp>
          <p:nvSpPr>
            <p:cNvPr id="37" name="Freeform 37"/>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262626"/>
            </a:solidFill>
          </p:spPr>
          <p:txBody>
            <a:bodyPr/>
            <a:lstStyle/>
            <a:p>
              <a:endParaRPr lang="en-US"/>
            </a:p>
          </p:txBody>
        </p:sp>
        <p:sp>
          <p:nvSpPr>
            <p:cNvPr id="38" name="TextBox 38"/>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FFFFFF"/>
                  </a:solidFill>
                  <a:latin typeface="Be Vietnam Italics"/>
                  <a:ea typeface="Be Vietnam Italics"/>
                  <a:cs typeface="Be Vietnam Italics"/>
                  <a:sym typeface="Be Vietnam Italics"/>
                </a:rPr>
                <a:t>Kidney disease Visualization</a:t>
              </a:r>
            </a:p>
          </p:txBody>
        </p:sp>
      </p:grpSp>
      <p:sp>
        <p:nvSpPr>
          <p:cNvPr id="39" name="Freeform 39"/>
          <p:cNvSpPr/>
          <p:nvPr/>
        </p:nvSpPr>
        <p:spPr>
          <a:xfrm>
            <a:off x="6569876" y="8548035"/>
            <a:ext cx="710265" cy="710265"/>
          </a:xfrm>
          <a:custGeom>
            <a:avLst/>
            <a:gdLst/>
            <a:ahLst/>
            <a:cxnLst/>
            <a:rect l="l" t="t" r="r" b="b"/>
            <a:pathLst>
              <a:path w="710265" h="710265">
                <a:moveTo>
                  <a:pt x="0" y="0"/>
                </a:moveTo>
                <a:lnTo>
                  <a:pt x="710265" y="0"/>
                </a:lnTo>
                <a:lnTo>
                  <a:pt x="710265" y="710265"/>
                </a:lnTo>
                <a:lnTo>
                  <a:pt x="0" y="71026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0" name="Group 40"/>
          <p:cNvGrpSpPr/>
          <p:nvPr/>
        </p:nvGrpSpPr>
        <p:grpSpPr>
          <a:xfrm>
            <a:off x="12823005" y="6074244"/>
            <a:ext cx="4799670" cy="1078401"/>
            <a:chOff x="0" y="0"/>
            <a:chExt cx="1264111" cy="284023"/>
          </a:xfrm>
        </p:grpSpPr>
        <p:sp>
          <p:nvSpPr>
            <p:cNvPr id="41" name="Freeform 41"/>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262626"/>
            </a:solidFill>
          </p:spPr>
          <p:txBody>
            <a:bodyPr/>
            <a:lstStyle/>
            <a:p>
              <a:endParaRPr lang="en-US"/>
            </a:p>
          </p:txBody>
        </p:sp>
        <p:sp>
          <p:nvSpPr>
            <p:cNvPr id="42" name="TextBox 42"/>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FFFFFF"/>
                  </a:solidFill>
                  <a:latin typeface="Be Vietnam Italics"/>
                  <a:ea typeface="Be Vietnam Italics"/>
                  <a:cs typeface="Be Vietnam Italics"/>
                  <a:sym typeface="Be Vietnam Italics"/>
                </a:rPr>
                <a:t>Kidney Function Animation</a:t>
              </a:r>
            </a:p>
          </p:txBody>
        </p:sp>
      </p:grpSp>
      <p:sp>
        <p:nvSpPr>
          <p:cNvPr id="43" name="Freeform 43"/>
          <p:cNvSpPr/>
          <p:nvPr/>
        </p:nvSpPr>
        <p:spPr>
          <a:xfrm>
            <a:off x="12581010" y="5782125"/>
            <a:ext cx="710265" cy="710265"/>
          </a:xfrm>
          <a:custGeom>
            <a:avLst/>
            <a:gdLst/>
            <a:ahLst/>
            <a:cxnLst/>
            <a:rect l="l" t="t" r="r" b="b"/>
            <a:pathLst>
              <a:path w="710265" h="710265">
                <a:moveTo>
                  <a:pt x="0" y="0"/>
                </a:moveTo>
                <a:lnTo>
                  <a:pt x="710265" y="0"/>
                </a:lnTo>
                <a:lnTo>
                  <a:pt x="710265" y="710264"/>
                </a:lnTo>
                <a:lnTo>
                  <a:pt x="0" y="7102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44" name="Group 44"/>
          <p:cNvGrpSpPr/>
          <p:nvPr/>
        </p:nvGrpSpPr>
        <p:grpSpPr>
          <a:xfrm>
            <a:off x="530769" y="7784417"/>
            <a:ext cx="5028265" cy="1312801"/>
            <a:chOff x="0" y="0"/>
            <a:chExt cx="6704353" cy="1750401"/>
          </a:xfrm>
        </p:grpSpPr>
        <p:grpSp>
          <p:nvGrpSpPr>
            <p:cNvPr id="45" name="Group 45"/>
            <p:cNvGrpSpPr/>
            <p:nvPr/>
          </p:nvGrpSpPr>
          <p:grpSpPr>
            <a:xfrm>
              <a:off x="304792" y="312534"/>
              <a:ext cx="6399560" cy="1437868"/>
              <a:chOff x="0" y="0"/>
              <a:chExt cx="1264111" cy="284023"/>
            </a:xfrm>
          </p:grpSpPr>
          <p:sp>
            <p:nvSpPr>
              <p:cNvPr id="46" name="Freeform 46"/>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E2CBF6"/>
              </a:solidFill>
            </p:spPr>
            <p:txBody>
              <a:bodyPr/>
              <a:lstStyle/>
              <a:p>
                <a:endParaRPr lang="en-US"/>
              </a:p>
            </p:txBody>
          </p:sp>
          <p:sp>
            <p:nvSpPr>
              <p:cNvPr id="47" name="TextBox 47"/>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000000"/>
                    </a:solidFill>
                    <a:latin typeface="Be Vietnam Italics"/>
                    <a:ea typeface="Be Vietnam Italics"/>
                    <a:cs typeface="Be Vietnam Italics"/>
                    <a:sym typeface="Be Vietnam Italics"/>
                  </a:rPr>
                  <a:t>Kidney Component Separation</a:t>
                </a:r>
              </a:p>
            </p:txBody>
          </p:sp>
        </p:grpSp>
        <p:sp>
          <p:nvSpPr>
            <p:cNvPr id="48" name="Freeform 48"/>
            <p:cNvSpPr/>
            <p:nvPr/>
          </p:nvSpPr>
          <p:spPr>
            <a:xfrm>
              <a:off x="0" y="0"/>
              <a:ext cx="947020" cy="947020"/>
            </a:xfrm>
            <a:custGeom>
              <a:avLst/>
              <a:gdLst/>
              <a:ahLst/>
              <a:cxnLst/>
              <a:rect l="l" t="t" r="r" b="b"/>
              <a:pathLst>
                <a:path w="947020" h="947020">
                  <a:moveTo>
                    <a:pt x="0" y="0"/>
                  </a:moveTo>
                  <a:lnTo>
                    <a:pt x="947020" y="0"/>
                  </a:lnTo>
                  <a:lnTo>
                    <a:pt x="947020" y="947020"/>
                  </a:lnTo>
                  <a:lnTo>
                    <a:pt x="0" y="94702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grpSp>
        <p:nvGrpSpPr>
          <p:cNvPr id="49" name="Group 49"/>
          <p:cNvGrpSpPr/>
          <p:nvPr/>
        </p:nvGrpSpPr>
        <p:grpSpPr>
          <a:xfrm>
            <a:off x="12747109" y="4522749"/>
            <a:ext cx="4799670" cy="1078401"/>
            <a:chOff x="0" y="0"/>
            <a:chExt cx="1264111" cy="284023"/>
          </a:xfrm>
        </p:grpSpPr>
        <p:sp>
          <p:nvSpPr>
            <p:cNvPr id="50" name="Freeform 50"/>
            <p:cNvSpPr/>
            <p:nvPr/>
          </p:nvSpPr>
          <p:spPr>
            <a:xfrm>
              <a:off x="0" y="0"/>
              <a:ext cx="1264111" cy="284023"/>
            </a:xfrm>
            <a:custGeom>
              <a:avLst/>
              <a:gdLst/>
              <a:ahLst/>
              <a:cxnLst/>
              <a:rect l="l" t="t" r="r" b="b"/>
              <a:pathLst>
                <a:path w="1264111" h="284023">
                  <a:moveTo>
                    <a:pt x="16130" y="0"/>
                  </a:moveTo>
                  <a:lnTo>
                    <a:pt x="1247981" y="0"/>
                  </a:lnTo>
                  <a:cubicBezTo>
                    <a:pt x="1256889" y="0"/>
                    <a:pt x="1264111" y="7222"/>
                    <a:pt x="1264111" y="16130"/>
                  </a:cubicBezTo>
                  <a:lnTo>
                    <a:pt x="1264111" y="267893"/>
                  </a:lnTo>
                  <a:cubicBezTo>
                    <a:pt x="1264111" y="276802"/>
                    <a:pt x="1256889" y="284023"/>
                    <a:pt x="1247981" y="284023"/>
                  </a:cubicBezTo>
                  <a:lnTo>
                    <a:pt x="16130" y="284023"/>
                  </a:lnTo>
                  <a:cubicBezTo>
                    <a:pt x="11852" y="284023"/>
                    <a:pt x="7749" y="282324"/>
                    <a:pt x="4724" y="279299"/>
                  </a:cubicBezTo>
                  <a:cubicBezTo>
                    <a:pt x="1699" y="276274"/>
                    <a:pt x="0" y="272171"/>
                    <a:pt x="0" y="267893"/>
                  </a:cubicBezTo>
                  <a:lnTo>
                    <a:pt x="0" y="16130"/>
                  </a:lnTo>
                  <a:cubicBezTo>
                    <a:pt x="0" y="7222"/>
                    <a:pt x="7222" y="0"/>
                    <a:pt x="16130" y="0"/>
                  </a:cubicBezTo>
                  <a:close/>
                </a:path>
              </a:pathLst>
            </a:custGeom>
            <a:solidFill>
              <a:srgbClr val="E2CBF6"/>
            </a:solidFill>
          </p:spPr>
          <p:txBody>
            <a:bodyPr/>
            <a:lstStyle/>
            <a:p>
              <a:endParaRPr lang="en-US"/>
            </a:p>
          </p:txBody>
        </p:sp>
        <p:sp>
          <p:nvSpPr>
            <p:cNvPr id="51" name="TextBox 51"/>
            <p:cNvSpPr txBox="1"/>
            <p:nvPr/>
          </p:nvSpPr>
          <p:spPr>
            <a:xfrm>
              <a:off x="0" y="-28575"/>
              <a:ext cx="1264111" cy="312598"/>
            </a:xfrm>
            <a:prstGeom prst="rect">
              <a:avLst/>
            </a:prstGeom>
          </p:spPr>
          <p:txBody>
            <a:bodyPr lIns="50800" tIns="50800" rIns="50800" bIns="50800" rtlCol="0" anchor="ctr"/>
            <a:lstStyle/>
            <a:p>
              <a:pPr algn="ctr">
                <a:lnSpc>
                  <a:spcPts val="2659"/>
                </a:lnSpc>
              </a:pPr>
              <a:r>
                <a:rPr lang="en-US" sz="1899" i="1">
                  <a:solidFill>
                    <a:srgbClr val="000000"/>
                  </a:solidFill>
                  <a:latin typeface="Be Vietnam Italics"/>
                  <a:ea typeface="Be Vietnam Italics"/>
                  <a:cs typeface="Be Vietnam Italics"/>
                  <a:sym typeface="Be Vietnam Italics"/>
                </a:rPr>
                <a:t>Anatomical Labels and Descriptions</a:t>
              </a:r>
            </a:p>
          </p:txBody>
        </p:sp>
      </p:grpSp>
      <p:sp>
        <p:nvSpPr>
          <p:cNvPr id="52" name="Freeform 52"/>
          <p:cNvSpPr/>
          <p:nvPr/>
        </p:nvSpPr>
        <p:spPr>
          <a:xfrm>
            <a:off x="12581010" y="4167617"/>
            <a:ext cx="710265" cy="710265"/>
          </a:xfrm>
          <a:custGeom>
            <a:avLst/>
            <a:gdLst/>
            <a:ahLst/>
            <a:cxnLst/>
            <a:rect l="l" t="t" r="r" b="b"/>
            <a:pathLst>
              <a:path w="710265" h="710265">
                <a:moveTo>
                  <a:pt x="0" y="0"/>
                </a:moveTo>
                <a:lnTo>
                  <a:pt x="710265" y="0"/>
                </a:lnTo>
                <a:lnTo>
                  <a:pt x="710265" y="710264"/>
                </a:lnTo>
                <a:lnTo>
                  <a:pt x="0" y="71026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3" name="Freeform 53"/>
          <p:cNvSpPr/>
          <p:nvPr/>
        </p:nvSpPr>
        <p:spPr>
          <a:xfrm flipH="1">
            <a:off x="5792715" y="4293395"/>
            <a:ext cx="3313369" cy="3594384"/>
          </a:xfrm>
          <a:custGeom>
            <a:avLst/>
            <a:gdLst/>
            <a:ahLst/>
            <a:cxnLst/>
            <a:rect l="l" t="t" r="r" b="b"/>
            <a:pathLst>
              <a:path w="3313369" h="3594384">
                <a:moveTo>
                  <a:pt x="3313368" y="0"/>
                </a:moveTo>
                <a:lnTo>
                  <a:pt x="0" y="0"/>
                </a:lnTo>
                <a:lnTo>
                  <a:pt x="0" y="3594384"/>
                </a:lnTo>
                <a:lnTo>
                  <a:pt x="3313368" y="3594384"/>
                </a:lnTo>
                <a:lnTo>
                  <a:pt x="3313368"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4" name="Freeform 54"/>
          <p:cNvSpPr/>
          <p:nvPr/>
        </p:nvSpPr>
        <p:spPr>
          <a:xfrm>
            <a:off x="9194987" y="4293395"/>
            <a:ext cx="3300298" cy="3594384"/>
          </a:xfrm>
          <a:custGeom>
            <a:avLst/>
            <a:gdLst/>
            <a:ahLst/>
            <a:cxnLst/>
            <a:rect l="l" t="t" r="r" b="b"/>
            <a:pathLst>
              <a:path w="3300298" h="3594384">
                <a:moveTo>
                  <a:pt x="0" y="0"/>
                </a:moveTo>
                <a:lnTo>
                  <a:pt x="3300298" y="0"/>
                </a:lnTo>
                <a:lnTo>
                  <a:pt x="3300298" y="3594384"/>
                </a:lnTo>
                <a:lnTo>
                  <a:pt x="0" y="35943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55" name="TextBox 55"/>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615051" y="-89429"/>
            <a:ext cx="18903051" cy="1335395"/>
          </a:xfrm>
          <a:prstGeom prst="rect">
            <a:avLst/>
          </a:prstGeom>
        </p:spPr>
        <p:txBody>
          <a:bodyPr lIns="0" tIns="0" rIns="0" bIns="0" rtlCol="0" anchor="t">
            <a:spAutoFit/>
          </a:bodyPr>
          <a:lstStyle/>
          <a:p>
            <a:pPr algn="ctr">
              <a:lnSpc>
                <a:spcPts val="10920"/>
              </a:lnSpc>
            </a:pPr>
            <a:r>
              <a:rPr lang="en-US" sz="7800" b="1">
                <a:solidFill>
                  <a:srgbClr val="831170"/>
                </a:solidFill>
                <a:latin typeface="Be Vietnam Ultra-Bold"/>
                <a:ea typeface="Be Vietnam Ultra-Bold"/>
                <a:cs typeface="Be Vietnam Ultra-Bold"/>
                <a:sym typeface="Be Vietnam Ultra-Bold"/>
              </a:rPr>
              <a:t>NONFUNCTIONAL </a:t>
            </a:r>
            <a:r>
              <a:rPr lang="en-US" sz="7800" b="1">
                <a:solidFill>
                  <a:srgbClr val="000000"/>
                </a:solidFill>
                <a:latin typeface="Be Vietnam Ultra-Bold"/>
                <a:ea typeface="Be Vietnam Ultra-Bold"/>
                <a:cs typeface="Be Vietnam Ultra-Bold"/>
                <a:sym typeface="Be Vietnam Ultra-Bold"/>
              </a:rPr>
              <a:t>REQUIREMENTS</a:t>
            </a:r>
          </a:p>
        </p:txBody>
      </p:sp>
      <p:grpSp>
        <p:nvGrpSpPr>
          <p:cNvPr id="3" name="Group 3"/>
          <p:cNvGrpSpPr/>
          <p:nvPr/>
        </p:nvGrpSpPr>
        <p:grpSpPr>
          <a:xfrm>
            <a:off x="15146945" y="9258300"/>
            <a:ext cx="2887313" cy="802001"/>
            <a:chOff x="0" y="0"/>
            <a:chExt cx="3849751" cy="1069334"/>
          </a:xfrm>
        </p:grpSpPr>
        <p:grpSp>
          <p:nvGrpSpPr>
            <p:cNvPr id="4" name="Group 4"/>
            <p:cNvGrpSpPr/>
            <p:nvPr/>
          </p:nvGrpSpPr>
          <p:grpSpPr>
            <a:xfrm>
              <a:off x="0" y="0"/>
              <a:ext cx="3849751" cy="1069334"/>
              <a:chOff x="0" y="0"/>
              <a:chExt cx="1033028" cy="286941"/>
            </a:xfrm>
          </p:grpSpPr>
          <p:sp>
            <p:nvSpPr>
              <p:cNvPr id="5" name="Freeform 5"/>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6" name="TextBox 6"/>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7" name="Group 7"/>
            <p:cNvGrpSpPr/>
            <p:nvPr/>
          </p:nvGrpSpPr>
          <p:grpSpPr>
            <a:xfrm>
              <a:off x="2772734" y="0"/>
              <a:ext cx="1077017" cy="1069334"/>
              <a:chOff x="0" y="0"/>
              <a:chExt cx="289003" cy="286941"/>
            </a:xfrm>
          </p:grpSpPr>
          <p:sp>
            <p:nvSpPr>
              <p:cNvPr id="8" name="Freeform 8"/>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9" name="TextBox 9"/>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10" name="Freeform 10"/>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1" name="TextBox 11"/>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grpSp>
        <p:nvGrpSpPr>
          <p:cNvPr id="12" name="Group 12"/>
          <p:cNvGrpSpPr/>
          <p:nvPr/>
        </p:nvGrpSpPr>
        <p:grpSpPr>
          <a:xfrm>
            <a:off x="500885" y="2307656"/>
            <a:ext cx="7328439" cy="1139304"/>
            <a:chOff x="0" y="0"/>
            <a:chExt cx="1930124" cy="300064"/>
          </a:xfrm>
        </p:grpSpPr>
        <p:sp>
          <p:nvSpPr>
            <p:cNvPr id="13" name="Freeform 13"/>
            <p:cNvSpPr/>
            <p:nvPr/>
          </p:nvSpPr>
          <p:spPr>
            <a:xfrm>
              <a:off x="0" y="0"/>
              <a:ext cx="1930124" cy="300064"/>
            </a:xfrm>
            <a:custGeom>
              <a:avLst/>
              <a:gdLst/>
              <a:ahLst/>
              <a:cxnLst/>
              <a:rect l="l" t="t" r="r" b="b"/>
              <a:pathLst>
                <a:path w="1930124" h="300064">
                  <a:moveTo>
                    <a:pt x="10564" y="0"/>
                  </a:moveTo>
                  <a:lnTo>
                    <a:pt x="1919560" y="0"/>
                  </a:lnTo>
                  <a:cubicBezTo>
                    <a:pt x="1925394" y="0"/>
                    <a:pt x="1930124" y="4730"/>
                    <a:pt x="1930124" y="10564"/>
                  </a:cubicBezTo>
                  <a:lnTo>
                    <a:pt x="1930124" y="289499"/>
                  </a:lnTo>
                  <a:cubicBezTo>
                    <a:pt x="1930124" y="295334"/>
                    <a:pt x="1925394" y="300064"/>
                    <a:pt x="1919560" y="300064"/>
                  </a:cubicBezTo>
                  <a:lnTo>
                    <a:pt x="10564" y="300064"/>
                  </a:lnTo>
                  <a:cubicBezTo>
                    <a:pt x="4730" y="300064"/>
                    <a:pt x="0" y="295334"/>
                    <a:pt x="0" y="289499"/>
                  </a:cubicBezTo>
                  <a:lnTo>
                    <a:pt x="0" y="10564"/>
                  </a:lnTo>
                  <a:cubicBezTo>
                    <a:pt x="0" y="4730"/>
                    <a:pt x="4730" y="0"/>
                    <a:pt x="10564" y="0"/>
                  </a:cubicBezTo>
                  <a:close/>
                </a:path>
              </a:pathLst>
            </a:custGeom>
            <a:solidFill>
              <a:srgbClr val="E2CBF6"/>
            </a:solidFill>
          </p:spPr>
          <p:txBody>
            <a:bodyPr/>
            <a:lstStyle/>
            <a:p>
              <a:endParaRPr lang="en-US"/>
            </a:p>
          </p:txBody>
        </p:sp>
        <p:sp>
          <p:nvSpPr>
            <p:cNvPr id="14" name="TextBox 14"/>
            <p:cNvSpPr txBox="1"/>
            <p:nvPr/>
          </p:nvSpPr>
          <p:spPr>
            <a:xfrm>
              <a:off x="0" y="-28575"/>
              <a:ext cx="1930124" cy="328639"/>
            </a:xfrm>
            <a:prstGeom prst="rect">
              <a:avLst/>
            </a:prstGeom>
          </p:spPr>
          <p:txBody>
            <a:bodyPr lIns="50800" tIns="50800" rIns="50800" bIns="50800" rtlCol="0" anchor="ctr"/>
            <a:lstStyle/>
            <a:p>
              <a:pPr algn="l">
                <a:lnSpc>
                  <a:spcPts val="2659"/>
                </a:lnSpc>
              </a:pPr>
              <a:r>
                <a:rPr lang="en-US" sz="1899" i="1">
                  <a:solidFill>
                    <a:srgbClr val="000000"/>
                  </a:solidFill>
                  <a:latin typeface="Be Vietnam Italics"/>
                  <a:ea typeface="Be Vietnam Italics"/>
                  <a:cs typeface="Be Vietnam Italics"/>
                  <a:sym typeface="Be Vietnam Italics"/>
                </a:rPr>
                <a:t>The virtual reality interface should be user friendly</a:t>
              </a:r>
            </a:p>
            <a:p>
              <a:pPr algn="l">
                <a:lnSpc>
                  <a:spcPts val="2659"/>
                </a:lnSpc>
              </a:pPr>
              <a:r>
                <a:rPr lang="en-US" sz="1899" i="1">
                  <a:solidFill>
                    <a:srgbClr val="000000"/>
                  </a:solidFill>
                  <a:latin typeface="Be Vietnam Italics"/>
                  <a:ea typeface="Be Vietnam Italics"/>
                  <a:cs typeface="Be Vietnam Italics"/>
                  <a:sym typeface="Be Vietnam Italics"/>
                </a:rPr>
                <a:t>with simple navigation and clear labels.</a:t>
              </a:r>
            </a:p>
          </p:txBody>
        </p:sp>
      </p:grpSp>
      <p:grpSp>
        <p:nvGrpSpPr>
          <p:cNvPr id="15" name="Group 15"/>
          <p:cNvGrpSpPr/>
          <p:nvPr/>
        </p:nvGrpSpPr>
        <p:grpSpPr>
          <a:xfrm>
            <a:off x="500885" y="3504110"/>
            <a:ext cx="7379872" cy="1086929"/>
            <a:chOff x="0" y="0"/>
            <a:chExt cx="1943670" cy="286269"/>
          </a:xfrm>
        </p:grpSpPr>
        <p:sp>
          <p:nvSpPr>
            <p:cNvPr id="16" name="Freeform 16"/>
            <p:cNvSpPr/>
            <p:nvPr/>
          </p:nvSpPr>
          <p:spPr>
            <a:xfrm>
              <a:off x="0" y="0"/>
              <a:ext cx="1943670" cy="286269"/>
            </a:xfrm>
            <a:custGeom>
              <a:avLst/>
              <a:gdLst/>
              <a:ahLst/>
              <a:cxnLst/>
              <a:rect l="l" t="t" r="r" b="b"/>
              <a:pathLst>
                <a:path w="1943670" h="286269">
                  <a:moveTo>
                    <a:pt x="10491" y="0"/>
                  </a:moveTo>
                  <a:lnTo>
                    <a:pt x="1933179" y="0"/>
                  </a:lnTo>
                  <a:cubicBezTo>
                    <a:pt x="1938973" y="0"/>
                    <a:pt x="1943670" y="4697"/>
                    <a:pt x="1943670" y="10491"/>
                  </a:cubicBezTo>
                  <a:lnTo>
                    <a:pt x="1943670" y="275779"/>
                  </a:lnTo>
                  <a:cubicBezTo>
                    <a:pt x="1943670" y="281572"/>
                    <a:pt x="1938973" y="286269"/>
                    <a:pt x="1933179" y="286269"/>
                  </a:cubicBezTo>
                  <a:lnTo>
                    <a:pt x="10491" y="286269"/>
                  </a:lnTo>
                  <a:cubicBezTo>
                    <a:pt x="4697" y="286269"/>
                    <a:pt x="0" y="281572"/>
                    <a:pt x="0" y="275779"/>
                  </a:cubicBezTo>
                  <a:lnTo>
                    <a:pt x="0" y="10491"/>
                  </a:lnTo>
                  <a:cubicBezTo>
                    <a:pt x="0" y="4697"/>
                    <a:pt x="4697" y="0"/>
                    <a:pt x="10491" y="0"/>
                  </a:cubicBezTo>
                  <a:close/>
                </a:path>
              </a:pathLst>
            </a:custGeom>
            <a:solidFill>
              <a:srgbClr val="262626"/>
            </a:solidFill>
          </p:spPr>
          <p:txBody>
            <a:bodyPr/>
            <a:lstStyle/>
            <a:p>
              <a:endParaRPr lang="en-US"/>
            </a:p>
          </p:txBody>
        </p:sp>
        <p:sp>
          <p:nvSpPr>
            <p:cNvPr id="17" name="TextBox 17"/>
            <p:cNvSpPr txBox="1"/>
            <p:nvPr/>
          </p:nvSpPr>
          <p:spPr>
            <a:xfrm>
              <a:off x="0" y="-28575"/>
              <a:ext cx="1943670" cy="314844"/>
            </a:xfrm>
            <a:prstGeom prst="rect">
              <a:avLst/>
            </a:prstGeom>
          </p:spPr>
          <p:txBody>
            <a:bodyPr lIns="50800" tIns="50800" rIns="50800" bIns="50800" rtlCol="0" anchor="ctr"/>
            <a:lstStyle/>
            <a:p>
              <a:pPr algn="l">
                <a:lnSpc>
                  <a:spcPts val="2659"/>
                </a:lnSpc>
              </a:pPr>
              <a:r>
                <a:rPr lang="en-US" sz="1899" i="1">
                  <a:solidFill>
                    <a:srgbClr val="FFFFFF"/>
                  </a:solidFill>
                  <a:latin typeface="Be Vietnam Italics"/>
                  <a:ea typeface="Be Vietnam Italics"/>
                  <a:cs typeface="Be Vietnam Italics"/>
                  <a:sym typeface="Be Vietnam Italics"/>
                </a:rPr>
                <a:t>The system should not crash during organ explo-</a:t>
              </a:r>
            </a:p>
            <a:p>
              <a:pPr algn="l">
                <a:lnSpc>
                  <a:spcPts val="2659"/>
                </a:lnSpc>
              </a:pPr>
              <a:r>
                <a:rPr lang="en-US" sz="1899" i="1">
                  <a:solidFill>
                    <a:srgbClr val="FFFFFF"/>
                  </a:solidFill>
                  <a:latin typeface="Be Vietnam Italics"/>
                  <a:ea typeface="Be Vietnam Italics"/>
                  <a:cs typeface="Be Vietnam Italics"/>
                  <a:sym typeface="Be Vietnam Italics"/>
                </a:rPr>
                <a:t>ration or interaction.</a:t>
              </a:r>
            </a:p>
          </p:txBody>
        </p:sp>
      </p:grpSp>
      <p:grpSp>
        <p:nvGrpSpPr>
          <p:cNvPr id="18" name="Group 18"/>
          <p:cNvGrpSpPr/>
          <p:nvPr/>
        </p:nvGrpSpPr>
        <p:grpSpPr>
          <a:xfrm>
            <a:off x="500885" y="1245966"/>
            <a:ext cx="7379872" cy="1004540"/>
            <a:chOff x="0" y="0"/>
            <a:chExt cx="1943670" cy="264570"/>
          </a:xfrm>
        </p:grpSpPr>
        <p:sp>
          <p:nvSpPr>
            <p:cNvPr id="19" name="Freeform 19"/>
            <p:cNvSpPr/>
            <p:nvPr/>
          </p:nvSpPr>
          <p:spPr>
            <a:xfrm>
              <a:off x="0" y="0"/>
              <a:ext cx="1943670" cy="264570"/>
            </a:xfrm>
            <a:custGeom>
              <a:avLst/>
              <a:gdLst/>
              <a:ahLst/>
              <a:cxnLst/>
              <a:rect l="l" t="t" r="r" b="b"/>
              <a:pathLst>
                <a:path w="1943670" h="264570">
                  <a:moveTo>
                    <a:pt x="10491" y="0"/>
                  </a:moveTo>
                  <a:lnTo>
                    <a:pt x="1933179" y="0"/>
                  </a:lnTo>
                  <a:cubicBezTo>
                    <a:pt x="1938973" y="0"/>
                    <a:pt x="1943670" y="4697"/>
                    <a:pt x="1943670" y="10491"/>
                  </a:cubicBezTo>
                  <a:lnTo>
                    <a:pt x="1943670" y="254080"/>
                  </a:lnTo>
                  <a:cubicBezTo>
                    <a:pt x="1943670" y="259873"/>
                    <a:pt x="1938973" y="264570"/>
                    <a:pt x="1933179" y="264570"/>
                  </a:cubicBezTo>
                  <a:lnTo>
                    <a:pt x="10491" y="264570"/>
                  </a:lnTo>
                  <a:cubicBezTo>
                    <a:pt x="4697" y="264570"/>
                    <a:pt x="0" y="259873"/>
                    <a:pt x="0" y="254080"/>
                  </a:cubicBezTo>
                  <a:lnTo>
                    <a:pt x="0" y="10491"/>
                  </a:lnTo>
                  <a:cubicBezTo>
                    <a:pt x="0" y="4697"/>
                    <a:pt x="4697" y="0"/>
                    <a:pt x="10491" y="0"/>
                  </a:cubicBezTo>
                  <a:close/>
                </a:path>
              </a:pathLst>
            </a:custGeom>
            <a:solidFill>
              <a:srgbClr val="262626"/>
            </a:solidFill>
          </p:spPr>
          <p:txBody>
            <a:bodyPr/>
            <a:lstStyle/>
            <a:p>
              <a:endParaRPr lang="en-US"/>
            </a:p>
          </p:txBody>
        </p:sp>
        <p:sp>
          <p:nvSpPr>
            <p:cNvPr id="20" name="TextBox 20"/>
            <p:cNvSpPr txBox="1"/>
            <p:nvPr/>
          </p:nvSpPr>
          <p:spPr>
            <a:xfrm>
              <a:off x="0" y="-28575"/>
              <a:ext cx="1943670" cy="293145"/>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723175" y="1270066"/>
            <a:ext cx="9543005" cy="980440"/>
          </a:xfrm>
          <a:prstGeom prst="rect">
            <a:avLst/>
          </a:prstGeom>
        </p:spPr>
        <p:txBody>
          <a:bodyPr lIns="0" tIns="0" rIns="0" bIns="0" rtlCol="0" anchor="t">
            <a:spAutoFit/>
          </a:bodyPr>
          <a:lstStyle/>
          <a:p>
            <a:pPr algn="l">
              <a:lnSpc>
                <a:spcPts val="2659"/>
              </a:lnSpc>
              <a:spcBef>
                <a:spcPct val="0"/>
              </a:spcBef>
            </a:pPr>
            <a:r>
              <a:rPr lang="en-US" sz="1899">
                <a:solidFill>
                  <a:srgbClr val="FFFFFF"/>
                </a:solidFill>
                <a:latin typeface="Be Vietnam"/>
                <a:ea typeface="Be Vietnam"/>
                <a:cs typeface="Be Vietnam"/>
                <a:sym typeface="Be Vietnam"/>
              </a:rPr>
              <a:t>The system has to display 3D models and anima-</a:t>
            </a:r>
          </a:p>
          <a:p>
            <a:pPr algn="l">
              <a:lnSpc>
                <a:spcPts val="2659"/>
              </a:lnSpc>
              <a:spcBef>
                <a:spcPct val="0"/>
              </a:spcBef>
            </a:pPr>
            <a:r>
              <a:rPr lang="en-US" sz="1899">
                <a:solidFill>
                  <a:srgbClr val="FFFFFF"/>
                </a:solidFill>
                <a:latin typeface="Be Vietnam"/>
                <a:ea typeface="Be Vietnam"/>
                <a:cs typeface="Be Vietnam"/>
                <a:sym typeface="Be Vietnam"/>
              </a:rPr>
              <a:t>tion smoothly at a minimum of 60 FPS without</a:t>
            </a:r>
          </a:p>
          <a:p>
            <a:pPr algn="l">
              <a:lnSpc>
                <a:spcPts val="2659"/>
              </a:lnSpc>
              <a:spcBef>
                <a:spcPct val="0"/>
              </a:spcBef>
            </a:pPr>
            <a:r>
              <a:rPr lang="en-US" sz="1899">
                <a:solidFill>
                  <a:srgbClr val="FFFFFF"/>
                </a:solidFill>
                <a:latin typeface="Be Vietnam"/>
                <a:ea typeface="Be Vietnam"/>
                <a:cs typeface="Be Vietnam"/>
                <a:sym typeface="Be Vietnam"/>
              </a:rPr>
              <a:t>lag.</a:t>
            </a:r>
          </a:p>
        </p:txBody>
      </p:sp>
      <p:grpSp>
        <p:nvGrpSpPr>
          <p:cNvPr id="22" name="Group 22"/>
          <p:cNvGrpSpPr/>
          <p:nvPr/>
        </p:nvGrpSpPr>
        <p:grpSpPr>
          <a:xfrm>
            <a:off x="398018" y="7154309"/>
            <a:ext cx="7431305" cy="1139304"/>
            <a:chOff x="0" y="0"/>
            <a:chExt cx="1957216" cy="300064"/>
          </a:xfrm>
        </p:grpSpPr>
        <p:sp>
          <p:nvSpPr>
            <p:cNvPr id="23" name="Freeform 23"/>
            <p:cNvSpPr/>
            <p:nvPr/>
          </p:nvSpPr>
          <p:spPr>
            <a:xfrm>
              <a:off x="0" y="0"/>
              <a:ext cx="1957216" cy="300064"/>
            </a:xfrm>
            <a:custGeom>
              <a:avLst/>
              <a:gdLst/>
              <a:ahLst/>
              <a:cxnLst/>
              <a:rect l="l" t="t" r="r" b="b"/>
              <a:pathLst>
                <a:path w="1957216" h="300064">
                  <a:moveTo>
                    <a:pt x="10418" y="0"/>
                  </a:moveTo>
                  <a:lnTo>
                    <a:pt x="1946798" y="0"/>
                  </a:lnTo>
                  <a:cubicBezTo>
                    <a:pt x="1949561" y="0"/>
                    <a:pt x="1952211" y="1098"/>
                    <a:pt x="1954165" y="3051"/>
                  </a:cubicBezTo>
                  <a:cubicBezTo>
                    <a:pt x="1956119" y="5005"/>
                    <a:pt x="1957216" y="7655"/>
                    <a:pt x="1957216" y="10418"/>
                  </a:cubicBezTo>
                  <a:lnTo>
                    <a:pt x="1957216" y="289646"/>
                  </a:lnTo>
                  <a:cubicBezTo>
                    <a:pt x="1957216" y="292409"/>
                    <a:pt x="1956119" y="295059"/>
                    <a:pt x="1954165" y="297012"/>
                  </a:cubicBezTo>
                  <a:cubicBezTo>
                    <a:pt x="1952211" y="298966"/>
                    <a:pt x="1949561" y="300064"/>
                    <a:pt x="1946798" y="300064"/>
                  </a:cubicBezTo>
                  <a:lnTo>
                    <a:pt x="10418" y="300064"/>
                  </a:lnTo>
                  <a:cubicBezTo>
                    <a:pt x="7655" y="300064"/>
                    <a:pt x="5005" y="298966"/>
                    <a:pt x="3051" y="297012"/>
                  </a:cubicBezTo>
                  <a:cubicBezTo>
                    <a:pt x="1098" y="295059"/>
                    <a:pt x="0" y="292409"/>
                    <a:pt x="0" y="289646"/>
                  </a:cubicBezTo>
                  <a:lnTo>
                    <a:pt x="0" y="10418"/>
                  </a:lnTo>
                  <a:cubicBezTo>
                    <a:pt x="0" y="7655"/>
                    <a:pt x="1098" y="5005"/>
                    <a:pt x="3051" y="3051"/>
                  </a:cubicBezTo>
                  <a:cubicBezTo>
                    <a:pt x="5005" y="1098"/>
                    <a:pt x="7655" y="0"/>
                    <a:pt x="10418" y="0"/>
                  </a:cubicBezTo>
                  <a:close/>
                </a:path>
              </a:pathLst>
            </a:custGeom>
            <a:solidFill>
              <a:srgbClr val="E2CBF6"/>
            </a:solidFill>
          </p:spPr>
          <p:txBody>
            <a:bodyPr/>
            <a:lstStyle/>
            <a:p>
              <a:endParaRPr lang="en-US"/>
            </a:p>
          </p:txBody>
        </p:sp>
        <p:sp>
          <p:nvSpPr>
            <p:cNvPr id="24" name="TextBox 24"/>
            <p:cNvSpPr txBox="1"/>
            <p:nvPr/>
          </p:nvSpPr>
          <p:spPr>
            <a:xfrm>
              <a:off x="0" y="-28575"/>
              <a:ext cx="1957216" cy="328639"/>
            </a:xfrm>
            <a:prstGeom prst="rect">
              <a:avLst/>
            </a:prstGeom>
          </p:spPr>
          <p:txBody>
            <a:bodyPr lIns="50800" tIns="50800" rIns="50800" bIns="50800" rtlCol="0" anchor="ctr"/>
            <a:lstStyle/>
            <a:p>
              <a:pPr algn="l">
                <a:lnSpc>
                  <a:spcPts val="2659"/>
                </a:lnSpc>
              </a:pPr>
              <a:r>
                <a:rPr lang="en-US" sz="1899" i="1">
                  <a:solidFill>
                    <a:srgbClr val="000000"/>
                  </a:solidFill>
                  <a:latin typeface="Be Vietnam Italics"/>
                  <a:ea typeface="Be Vietnam Italics"/>
                  <a:cs typeface="Be Vietnam Italics"/>
                  <a:sym typeface="Be Vietnam Italics"/>
                </a:rPr>
                <a:t>The system must be compatible with standard VR</a:t>
              </a:r>
            </a:p>
            <a:p>
              <a:pPr algn="l">
                <a:lnSpc>
                  <a:spcPts val="2659"/>
                </a:lnSpc>
              </a:pPr>
              <a:r>
                <a:rPr lang="en-US" sz="1899" i="1">
                  <a:solidFill>
                    <a:srgbClr val="000000"/>
                  </a:solidFill>
                  <a:latin typeface="Be Vietnam Italics"/>
                  <a:ea typeface="Be Vietnam Italics"/>
                  <a:cs typeface="Be Vietnam Italics"/>
                  <a:sym typeface="Be Vietnam Italics"/>
                </a:rPr>
                <a:t>headsets and high performance PCs with GPU in-</a:t>
              </a:r>
            </a:p>
            <a:p>
              <a:pPr algn="l">
                <a:lnSpc>
                  <a:spcPts val="2659"/>
                </a:lnSpc>
              </a:pPr>
              <a:r>
                <a:rPr lang="en-US" sz="1899" i="1">
                  <a:solidFill>
                    <a:srgbClr val="000000"/>
                  </a:solidFill>
                  <a:latin typeface="Be Vietnam Italics"/>
                  <a:ea typeface="Be Vietnam Italics"/>
                  <a:cs typeface="Be Vietnam Italics"/>
                  <a:sym typeface="Be Vietnam Italics"/>
                </a:rPr>
                <a:t>tegrated.</a:t>
              </a:r>
            </a:p>
          </p:txBody>
        </p:sp>
      </p:grpSp>
      <p:grpSp>
        <p:nvGrpSpPr>
          <p:cNvPr id="25" name="Group 25"/>
          <p:cNvGrpSpPr/>
          <p:nvPr/>
        </p:nvGrpSpPr>
        <p:grpSpPr>
          <a:xfrm>
            <a:off x="398018" y="8436488"/>
            <a:ext cx="7389517" cy="1139304"/>
            <a:chOff x="0" y="0"/>
            <a:chExt cx="1946210" cy="300064"/>
          </a:xfrm>
        </p:grpSpPr>
        <p:sp>
          <p:nvSpPr>
            <p:cNvPr id="26" name="Freeform 26"/>
            <p:cNvSpPr/>
            <p:nvPr/>
          </p:nvSpPr>
          <p:spPr>
            <a:xfrm>
              <a:off x="0" y="0"/>
              <a:ext cx="1946210" cy="300064"/>
            </a:xfrm>
            <a:custGeom>
              <a:avLst/>
              <a:gdLst/>
              <a:ahLst/>
              <a:cxnLst/>
              <a:rect l="l" t="t" r="r" b="b"/>
              <a:pathLst>
                <a:path w="1946210" h="300064">
                  <a:moveTo>
                    <a:pt x="10477" y="0"/>
                  </a:moveTo>
                  <a:lnTo>
                    <a:pt x="1935733" y="0"/>
                  </a:lnTo>
                  <a:cubicBezTo>
                    <a:pt x="1941520" y="0"/>
                    <a:pt x="1946210" y="4691"/>
                    <a:pt x="1946210" y="10477"/>
                  </a:cubicBezTo>
                  <a:lnTo>
                    <a:pt x="1946210" y="289587"/>
                  </a:lnTo>
                  <a:cubicBezTo>
                    <a:pt x="1946210" y="295373"/>
                    <a:pt x="1941520" y="300064"/>
                    <a:pt x="1935733" y="300064"/>
                  </a:cubicBezTo>
                  <a:lnTo>
                    <a:pt x="10477" y="300064"/>
                  </a:lnTo>
                  <a:cubicBezTo>
                    <a:pt x="4691" y="300064"/>
                    <a:pt x="0" y="295373"/>
                    <a:pt x="0" y="289587"/>
                  </a:cubicBezTo>
                  <a:lnTo>
                    <a:pt x="0" y="10477"/>
                  </a:lnTo>
                  <a:cubicBezTo>
                    <a:pt x="0" y="4691"/>
                    <a:pt x="4691" y="0"/>
                    <a:pt x="10477" y="0"/>
                  </a:cubicBezTo>
                  <a:close/>
                </a:path>
              </a:pathLst>
            </a:custGeom>
            <a:solidFill>
              <a:srgbClr val="262626"/>
            </a:solidFill>
          </p:spPr>
          <p:txBody>
            <a:bodyPr/>
            <a:lstStyle/>
            <a:p>
              <a:endParaRPr lang="en-US"/>
            </a:p>
          </p:txBody>
        </p:sp>
        <p:sp>
          <p:nvSpPr>
            <p:cNvPr id="27" name="TextBox 27"/>
            <p:cNvSpPr txBox="1"/>
            <p:nvPr/>
          </p:nvSpPr>
          <p:spPr>
            <a:xfrm>
              <a:off x="0" y="-28575"/>
              <a:ext cx="1946210" cy="328639"/>
            </a:xfrm>
            <a:prstGeom prst="rect">
              <a:avLst/>
            </a:prstGeom>
          </p:spPr>
          <p:txBody>
            <a:bodyPr lIns="50800" tIns="50800" rIns="50800" bIns="50800" rtlCol="0" anchor="ctr"/>
            <a:lstStyle/>
            <a:p>
              <a:pPr algn="l">
                <a:lnSpc>
                  <a:spcPts val="2659"/>
                </a:lnSpc>
              </a:pPr>
              <a:r>
                <a:rPr lang="en-US" sz="1899" i="1">
                  <a:solidFill>
                    <a:srgbClr val="FFFFFF"/>
                  </a:solidFill>
                  <a:latin typeface="Be Vietnam Italics"/>
                  <a:ea typeface="Be Vietnam Italics"/>
                  <a:cs typeface="Be Vietnam Italics"/>
                  <a:sym typeface="Be Vietnam Italics"/>
                </a:rPr>
                <a:t>The system should be in a position to support left</a:t>
              </a:r>
            </a:p>
            <a:p>
              <a:pPr algn="l">
                <a:lnSpc>
                  <a:spcPts val="2659"/>
                </a:lnSpc>
              </a:pPr>
              <a:r>
                <a:rPr lang="en-US" sz="1899" i="1">
                  <a:solidFill>
                    <a:srgbClr val="FFFFFF"/>
                  </a:solidFill>
                  <a:latin typeface="Be Vietnam Italics"/>
                  <a:ea typeface="Be Vietnam Italics"/>
                  <a:cs typeface="Be Vietnam Italics"/>
                  <a:sym typeface="Be Vietnam Italics"/>
                </a:rPr>
                <a:t>and right handed users and minimize motion dis-</a:t>
              </a:r>
            </a:p>
            <a:p>
              <a:pPr algn="l">
                <a:lnSpc>
                  <a:spcPts val="2659"/>
                </a:lnSpc>
              </a:pPr>
              <a:r>
                <a:rPr lang="en-US" sz="1899" i="1">
                  <a:solidFill>
                    <a:srgbClr val="FFFFFF"/>
                  </a:solidFill>
                  <a:latin typeface="Be Vietnam Italics"/>
                  <a:ea typeface="Be Vietnam Italics"/>
                  <a:cs typeface="Be Vietnam Italics"/>
                  <a:sym typeface="Be Vietnam Italics"/>
                </a:rPr>
                <a:t>comfort in VR.</a:t>
              </a:r>
            </a:p>
          </p:txBody>
        </p:sp>
      </p:grpSp>
      <p:grpSp>
        <p:nvGrpSpPr>
          <p:cNvPr id="28" name="Group 28"/>
          <p:cNvGrpSpPr/>
          <p:nvPr/>
        </p:nvGrpSpPr>
        <p:grpSpPr>
          <a:xfrm>
            <a:off x="475168" y="4648189"/>
            <a:ext cx="7431305" cy="1078401"/>
            <a:chOff x="0" y="0"/>
            <a:chExt cx="1957216" cy="284023"/>
          </a:xfrm>
        </p:grpSpPr>
        <p:sp>
          <p:nvSpPr>
            <p:cNvPr id="29" name="Freeform 29"/>
            <p:cNvSpPr/>
            <p:nvPr/>
          </p:nvSpPr>
          <p:spPr>
            <a:xfrm>
              <a:off x="0" y="0"/>
              <a:ext cx="1957216" cy="284023"/>
            </a:xfrm>
            <a:custGeom>
              <a:avLst/>
              <a:gdLst/>
              <a:ahLst/>
              <a:cxnLst/>
              <a:rect l="l" t="t" r="r" b="b"/>
              <a:pathLst>
                <a:path w="1957216" h="284023">
                  <a:moveTo>
                    <a:pt x="10418" y="0"/>
                  </a:moveTo>
                  <a:lnTo>
                    <a:pt x="1946798" y="0"/>
                  </a:lnTo>
                  <a:cubicBezTo>
                    <a:pt x="1949561" y="0"/>
                    <a:pt x="1952211" y="1098"/>
                    <a:pt x="1954165" y="3051"/>
                  </a:cubicBezTo>
                  <a:cubicBezTo>
                    <a:pt x="1956119" y="5005"/>
                    <a:pt x="1957216" y="7655"/>
                    <a:pt x="1957216" y="10418"/>
                  </a:cubicBezTo>
                  <a:lnTo>
                    <a:pt x="1957216" y="273605"/>
                  </a:lnTo>
                  <a:cubicBezTo>
                    <a:pt x="1957216" y="276368"/>
                    <a:pt x="1956119" y="279018"/>
                    <a:pt x="1954165" y="280972"/>
                  </a:cubicBezTo>
                  <a:cubicBezTo>
                    <a:pt x="1952211" y="282926"/>
                    <a:pt x="1949561" y="284023"/>
                    <a:pt x="1946798" y="284023"/>
                  </a:cubicBezTo>
                  <a:lnTo>
                    <a:pt x="10418" y="284023"/>
                  </a:lnTo>
                  <a:cubicBezTo>
                    <a:pt x="7655" y="284023"/>
                    <a:pt x="5005" y="282926"/>
                    <a:pt x="3051" y="280972"/>
                  </a:cubicBezTo>
                  <a:cubicBezTo>
                    <a:pt x="1098" y="279018"/>
                    <a:pt x="0" y="276368"/>
                    <a:pt x="0" y="273605"/>
                  </a:cubicBezTo>
                  <a:lnTo>
                    <a:pt x="0" y="10418"/>
                  </a:lnTo>
                  <a:cubicBezTo>
                    <a:pt x="0" y="7655"/>
                    <a:pt x="1098" y="5005"/>
                    <a:pt x="3051" y="3051"/>
                  </a:cubicBezTo>
                  <a:cubicBezTo>
                    <a:pt x="5005" y="1098"/>
                    <a:pt x="7655" y="0"/>
                    <a:pt x="10418" y="0"/>
                  </a:cubicBezTo>
                  <a:close/>
                </a:path>
              </a:pathLst>
            </a:custGeom>
            <a:solidFill>
              <a:srgbClr val="E2CBF6"/>
            </a:solidFill>
          </p:spPr>
          <p:txBody>
            <a:bodyPr/>
            <a:lstStyle/>
            <a:p>
              <a:endParaRPr lang="en-US"/>
            </a:p>
          </p:txBody>
        </p:sp>
        <p:sp>
          <p:nvSpPr>
            <p:cNvPr id="30" name="TextBox 30"/>
            <p:cNvSpPr txBox="1"/>
            <p:nvPr/>
          </p:nvSpPr>
          <p:spPr>
            <a:xfrm>
              <a:off x="0" y="-28575"/>
              <a:ext cx="1957216" cy="312598"/>
            </a:xfrm>
            <a:prstGeom prst="rect">
              <a:avLst/>
            </a:prstGeom>
          </p:spPr>
          <p:txBody>
            <a:bodyPr lIns="50800" tIns="50800" rIns="50800" bIns="50800" rtlCol="0" anchor="ctr"/>
            <a:lstStyle/>
            <a:p>
              <a:pPr algn="l">
                <a:lnSpc>
                  <a:spcPts val="2659"/>
                </a:lnSpc>
              </a:pPr>
              <a:r>
                <a:rPr lang="en-US" sz="1899" i="1">
                  <a:solidFill>
                    <a:srgbClr val="000000"/>
                  </a:solidFill>
                  <a:latin typeface="Be Vietnam Italics"/>
                  <a:ea typeface="Be Vietnam Italics"/>
                  <a:cs typeface="Be Vietnam Italics"/>
                  <a:sym typeface="Be Vietnam Italics"/>
                </a:rPr>
                <a:t>Models, labels and animations of the kidney should</a:t>
              </a:r>
            </a:p>
            <a:p>
              <a:pPr algn="l">
                <a:lnSpc>
                  <a:spcPts val="2659"/>
                </a:lnSpc>
              </a:pPr>
              <a:r>
                <a:rPr lang="en-US" sz="1899" i="1">
                  <a:solidFill>
                    <a:srgbClr val="000000"/>
                  </a:solidFill>
                  <a:latin typeface="Be Vietnam Italics"/>
                  <a:ea typeface="Be Vietnam Italics"/>
                  <a:cs typeface="Be Vietnam Italics"/>
                  <a:sym typeface="Be Vietnam Italics"/>
                </a:rPr>
                <a:t>be scientifically right and justified by the experts.</a:t>
              </a:r>
            </a:p>
          </p:txBody>
        </p:sp>
      </p:grpSp>
      <p:grpSp>
        <p:nvGrpSpPr>
          <p:cNvPr id="31" name="Group 31"/>
          <p:cNvGrpSpPr/>
          <p:nvPr/>
        </p:nvGrpSpPr>
        <p:grpSpPr>
          <a:xfrm>
            <a:off x="475168" y="5872129"/>
            <a:ext cx="7379872" cy="1139304"/>
            <a:chOff x="0" y="0"/>
            <a:chExt cx="1943670" cy="300064"/>
          </a:xfrm>
        </p:grpSpPr>
        <p:sp>
          <p:nvSpPr>
            <p:cNvPr id="32" name="Freeform 32"/>
            <p:cNvSpPr/>
            <p:nvPr/>
          </p:nvSpPr>
          <p:spPr>
            <a:xfrm>
              <a:off x="0" y="0"/>
              <a:ext cx="1943670" cy="300064"/>
            </a:xfrm>
            <a:custGeom>
              <a:avLst/>
              <a:gdLst/>
              <a:ahLst/>
              <a:cxnLst/>
              <a:rect l="l" t="t" r="r" b="b"/>
              <a:pathLst>
                <a:path w="1943670" h="300064">
                  <a:moveTo>
                    <a:pt x="10491" y="0"/>
                  </a:moveTo>
                  <a:lnTo>
                    <a:pt x="1933179" y="0"/>
                  </a:lnTo>
                  <a:cubicBezTo>
                    <a:pt x="1938973" y="0"/>
                    <a:pt x="1943670" y="4697"/>
                    <a:pt x="1943670" y="10491"/>
                  </a:cubicBezTo>
                  <a:lnTo>
                    <a:pt x="1943670" y="289573"/>
                  </a:lnTo>
                  <a:cubicBezTo>
                    <a:pt x="1943670" y="295367"/>
                    <a:pt x="1938973" y="300064"/>
                    <a:pt x="1933179" y="300064"/>
                  </a:cubicBezTo>
                  <a:lnTo>
                    <a:pt x="10491" y="300064"/>
                  </a:lnTo>
                  <a:cubicBezTo>
                    <a:pt x="4697" y="300064"/>
                    <a:pt x="0" y="295367"/>
                    <a:pt x="0" y="289573"/>
                  </a:cubicBezTo>
                  <a:lnTo>
                    <a:pt x="0" y="10491"/>
                  </a:lnTo>
                  <a:cubicBezTo>
                    <a:pt x="0" y="4697"/>
                    <a:pt x="4697" y="0"/>
                    <a:pt x="10491" y="0"/>
                  </a:cubicBezTo>
                  <a:close/>
                </a:path>
              </a:pathLst>
            </a:custGeom>
            <a:solidFill>
              <a:srgbClr val="000000"/>
            </a:solidFill>
          </p:spPr>
          <p:txBody>
            <a:bodyPr/>
            <a:lstStyle/>
            <a:p>
              <a:endParaRPr lang="en-US"/>
            </a:p>
          </p:txBody>
        </p:sp>
        <p:sp>
          <p:nvSpPr>
            <p:cNvPr id="33" name="TextBox 33"/>
            <p:cNvSpPr txBox="1"/>
            <p:nvPr/>
          </p:nvSpPr>
          <p:spPr>
            <a:xfrm>
              <a:off x="0" y="-28575"/>
              <a:ext cx="1943670" cy="328639"/>
            </a:xfrm>
            <a:prstGeom prst="rect">
              <a:avLst/>
            </a:prstGeom>
          </p:spPr>
          <p:txBody>
            <a:bodyPr lIns="50800" tIns="50800" rIns="50800" bIns="50800" rtlCol="0" anchor="ctr"/>
            <a:lstStyle/>
            <a:p>
              <a:pPr algn="l">
                <a:lnSpc>
                  <a:spcPts val="2659"/>
                </a:lnSpc>
              </a:pPr>
              <a:r>
                <a:rPr lang="en-US" sz="1899" i="1">
                  <a:solidFill>
                    <a:srgbClr val="FFFFFF"/>
                  </a:solidFill>
                  <a:latin typeface="Be Vietnam Italics"/>
                  <a:ea typeface="Be Vietnam Italics"/>
                  <a:cs typeface="Be Vietnam Italics"/>
                  <a:sym typeface="Be Vietnam Italics"/>
                </a:rPr>
                <a:t>The system must be able to accommodate the ad-</a:t>
              </a:r>
            </a:p>
            <a:p>
              <a:pPr algn="l">
                <a:lnSpc>
                  <a:spcPts val="2659"/>
                </a:lnSpc>
              </a:pPr>
              <a:r>
                <a:rPr lang="en-US" sz="1899" i="1">
                  <a:solidFill>
                    <a:srgbClr val="FFFFFF"/>
                  </a:solidFill>
                  <a:latin typeface="Be Vietnam Italics"/>
                  <a:ea typeface="Be Vietnam Italics"/>
                  <a:cs typeface="Be Vietnam Italics"/>
                  <a:sym typeface="Be Vietnam Italics"/>
                </a:rPr>
                <a:t>dition of new organs, layers, and functional anima-</a:t>
              </a:r>
            </a:p>
            <a:p>
              <a:pPr algn="l">
                <a:lnSpc>
                  <a:spcPts val="2659"/>
                </a:lnSpc>
              </a:pPr>
              <a:r>
                <a:rPr lang="en-US" sz="1899" i="1">
                  <a:solidFill>
                    <a:srgbClr val="FFFFFF"/>
                  </a:solidFill>
                  <a:latin typeface="Be Vietnam Italics"/>
                  <a:ea typeface="Be Vietnam Italics"/>
                  <a:cs typeface="Be Vietnam Italics"/>
                  <a:sym typeface="Be Vietnam Italics"/>
                </a:rPr>
                <a:t>tions.</a:t>
              </a:r>
            </a:p>
          </p:txBody>
        </p:sp>
      </p:grpSp>
      <p:grpSp>
        <p:nvGrpSpPr>
          <p:cNvPr id="34" name="Group 34"/>
          <p:cNvGrpSpPr/>
          <p:nvPr/>
        </p:nvGrpSpPr>
        <p:grpSpPr>
          <a:xfrm>
            <a:off x="10862845" y="1298641"/>
            <a:ext cx="4475349" cy="883236"/>
            <a:chOff x="0" y="0"/>
            <a:chExt cx="1178693" cy="232622"/>
          </a:xfrm>
        </p:grpSpPr>
        <p:sp>
          <p:nvSpPr>
            <p:cNvPr id="35" name="Freeform 35"/>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E2CBF6"/>
            </a:solidFill>
          </p:spPr>
          <p:txBody>
            <a:bodyPr/>
            <a:lstStyle/>
            <a:p>
              <a:endParaRPr lang="en-US"/>
            </a:p>
          </p:txBody>
        </p:sp>
        <p:sp>
          <p:nvSpPr>
            <p:cNvPr id="36" name="TextBox 36"/>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grpSp>
        <p:nvGrpSpPr>
          <p:cNvPr id="37" name="Group 37"/>
          <p:cNvGrpSpPr/>
          <p:nvPr/>
        </p:nvGrpSpPr>
        <p:grpSpPr>
          <a:xfrm>
            <a:off x="10878729" y="3605957"/>
            <a:ext cx="4475349" cy="883236"/>
            <a:chOff x="0" y="0"/>
            <a:chExt cx="1178693" cy="232622"/>
          </a:xfrm>
        </p:grpSpPr>
        <p:sp>
          <p:nvSpPr>
            <p:cNvPr id="38" name="Freeform 38"/>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E2CBF6"/>
            </a:solidFill>
          </p:spPr>
          <p:txBody>
            <a:bodyPr/>
            <a:lstStyle/>
            <a:p>
              <a:endParaRPr lang="en-US"/>
            </a:p>
          </p:txBody>
        </p:sp>
        <p:sp>
          <p:nvSpPr>
            <p:cNvPr id="39" name="TextBox 39"/>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grpSp>
        <p:nvGrpSpPr>
          <p:cNvPr id="40" name="Group 40"/>
          <p:cNvGrpSpPr/>
          <p:nvPr/>
        </p:nvGrpSpPr>
        <p:grpSpPr>
          <a:xfrm>
            <a:off x="10899061" y="6000164"/>
            <a:ext cx="4475349" cy="883236"/>
            <a:chOff x="0" y="0"/>
            <a:chExt cx="1178693" cy="232622"/>
          </a:xfrm>
        </p:grpSpPr>
        <p:sp>
          <p:nvSpPr>
            <p:cNvPr id="41" name="Freeform 41"/>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E2CBF6"/>
            </a:solidFill>
          </p:spPr>
          <p:txBody>
            <a:bodyPr/>
            <a:lstStyle/>
            <a:p>
              <a:endParaRPr lang="en-US"/>
            </a:p>
          </p:txBody>
        </p:sp>
        <p:sp>
          <p:nvSpPr>
            <p:cNvPr id="42" name="TextBox 42"/>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sp>
        <p:nvSpPr>
          <p:cNvPr id="43" name="TextBox 43"/>
          <p:cNvSpPr txBox="1"/>
          <p:nvPr/>
        </p:nvSpPr>
        <p:spPr>
          <a:xfrm>
            <a:off x="11912484" y="1436560"/>
            <a:ext cx="2153960" cy="481330"/>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Be Vietnam Italics"/>
                <a:ea typeface="Be Vietnam Italics"/>
                <a:cs typeface="Be Vietnam Italics"/>
                <a:sym typeface="Be Vietnam Italics"/>
              </a:rPr>
              <a:t>Performance</a:t>
            </a:r>
          </a:p>
        </p:txBody>
      </p:sp>
      <p:grpSp>
        <p:nvGrpSpPr>
          <p:cNvPr id="44" name="Group 44"/>
          <p:cNvGrpSpPr/>
          <p:nvPr/>
        </p:nvGrpSpPr>
        <p:grpSpPr>
          <a:xfrm>
            <a:off x="10878729" y="8375064"/>
            <a:ext cx="4475349" cy="883236"/>
            <a:chOff x="0" y="0"/>
            <a:chExt cx="1178693" cy="232622"/>
          </a:xfrm>
        </p:grpSpPr>
        <p:sp>
          <p:nvSpPr>
            <p:cNvPr id="45" name="Freeform 45"/>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E2CBF6"/>
            </a:solidFill>
          </p:spPr>
          <p:txBody>
            <a:bodyPr/>
            <a:lstStyle/>
            <a:p>
              <a:endParaRPr lang="en-US"/>
            </a:p>
          </p:txBody>
        </p:sp>
        <p:sp>
          <p:nvSpPr>
            <p:cNvPr id="46" name="TextBox 46"/>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grpSp>
        <p:nvGrpSpPr>
          <p:cNvPr id="47" name="Group 47"/>
          <p:cNvGrpSpPr/>
          <p:nvPr/>
        </p:nvGrpSpPr>
        <p:grpSpPr>
          <a:xfrm>
            <a:off x="10862845" y="2486676"/>
            <a:ext cx="4475349" cy="883236"/>
            <a:chOff x="0" y="0"/>
            <a:chExt cx="1178693" cy="232622"/>
          </a:xfrm>
        </p:grpSpPr>
        <p:sp>
          <p:nvSpPr>
            <p:cNvPr id="48" name="Freeform 48"/>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000000"/>
            </a:solidFill>
          </p:spPr>
          <p:txBody>
            <a:bodyPr/>
            <a:lstStyle/>
            <a:p>
              <a:endParaRPr lang="en-US"/>
            </a:p>
          </p:txBody>
        </p:sp>
        <p:sp>
          <p:nvSpPr>
            <p:cNvPr id="49" name="TextBox 49"/>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grpSp>
        <p:nvGrpSpPr>
          <p:cNvPr id="50" name="Group 50"/>
          <p:cNvGrpSpPr/>
          <p:nvPr/>
        </p:nvGrpSpPr>
        <p:grpSpPr>
          <a:xfrm>
            <a:off x="10899061" y="4757648"/>
            <a:ext cx="4475349" cy="883236"/>
            <a:chOff x="0" y="0"/>
            <a:chExt cx="1178693" cy="232622"/>
          </a:xfrm>
        </p:grpSpPr>
        <p:sp>
          <p:nvSpPr>
            <p:cNvPr id="51" name="Freeform 51"/>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000000"/>
            </a:solidFill>
          </p:spPr>
          <p:txBody>
            <a:bodyPr/>
            <a:lstStyle/>
            <a:p>
              <a:endParaRPr lang="en-US"/>
            </a:p>
          </p:txBody>
        </p:sp>
        <p:sp>
          <p:nvSpPr>
            <p:cNvPr id="52" name="TextBox 52"/>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grpSp>
        <p:nvGrpSpPr>
          <p:cNvPr id="53" name="Group 53"/>
          <p:cNvGrpSpPr/>
          <p:nvPr/>
        </p:nvGrpSpPr>
        <p:grpSpPr>
          <a:xfrm>
            <a:off x="10878729" y="7154309"/>
            <a:ext cx="4475349" cy="883236"/>
            <a:chOff x="0" y="0"/>
            <a:chExt cx="1178693" cy="232622"/>
          </a:xfrm>
        </p:grpSpPr>
        <p:sp>
          <p:nvSpPr>
            <p:cNvPr id="54" name="Freeform 54"/>
            <p:cNvSpPr/>
            <p:nvPr/>
          </p:nvSpPr>
          <p:spPr>
            <a:xfrm>
              <a:off x="0" y="0"/>
              <a:ext cx="1178693" cy="232622"/>
            </a:xfrm>
            <a:custGeom>
              <a:avLst/>
              <a:gdLst/>
              <a:ahLst/>
              <a:cxnLst/>
              <a:rect l="l" t="t" r="r" b="b"/>
              <a:pathLst>
                <a:path w="1178693" h="232622">
                  <a:moveTo>
                    <a:pt x="17299" y="0"/>
                  </a:moveTo>
                  <a:lnTo>
                    <a:pt x="1161394" y="0"/>
                  </a:lnTo>
                  <a:cubicBezTo>
                    <a:pt x="1170948" y="0"/>
                    <a:pt x="1178693" y="7745"/>
                    <a:pt x="1178693" y="17299"/>
                  </a:cubicBezTo>
                  <a:lnTo>
                    <a:pt x="1178693" y="215323"/>
                  </a:lnTo>
                  <a:cubicBezTo>
                    <a:pt x="1178693" y="224877"/>
                    <a:pt x="1170948" y="232622"/>
                    <a:pt x="1161394" y="232622"/>
                  </a:cubicBezTo>
                  <a:lnTo>
                    <a:pt x="17299" y="232622"/>
                  </a:lnTo>
                  <a:cubicBezTo>
                    <a:pt x="12711" y="232622"/>
                    <a:pt x="8311" y="230799"/>
                    <a:pt x="5067" y="227555"/>
                  </a:cubicBezTo>
                  <a:cubicBezTo>
                    <a:pt x="1823" y="224311"/>
                    <a:pt x="0" y="219911"/>
                    <a:pt x="0" y="215323"/>
                  </a:cubicBezTo>
                  <a:lnTo>
                    <a:pt x="0" y="17299"/>
                  </a:lnTo>
                  <a:cubicBezTo>
                    <a:pt x="0" y="7745"/>
                    <a:pt x="7745" y="0"/>
                    <a:pt x="17299" y="0"/>
                  </a:cubicBezTo>
                  <a:close/>
                </a:path>
              </a:pathLst>
            </a:custGeom>
            <a:solidFill>
              <a:srgbClr val="000000"/>
            </a:solidFill>
          </p:spPr>
          <p:txBody>
            <a:bodyPr/>
            <a:lstStyle/>
            <a:p>
              <a:endParaRPr lang="en-US"/>
            </a:p>
          </p:txBody>
        </p:sp>
        <p:sp>
          <p:nvSpPr>
            <p:cNvPr id="55" name="TextBox 55"/>
            <p:cNvSpPr txBox="1"/>
            <p:nvPr/>
          </p:nvSpPr>
          <p:spPr>
            <a:xfrm>
              <a:off x="0" y="-28575"/>
              <a:ext cx="1178693" cy="261197"/>
            </a:xfrm>
            <a:prstGeom prst="rect">
              <a:avLst/>
            </a:prstGeom>
          </p:spPr>
          <p:txBody>
            <a:bodyPr lIns="50800" tIns="50800" rIns="50800" bIns="50800" rtlCol="0" anchor="ctr"/>
            <a:lstStyle/>
            <a:p>
              <a:pPr algn="l">
                <a:lnSpc>
                  <a:spcPts val="2659"/>
                </a:lnSpc>
              </a:pPr>
              <a:endParaRPr/>
            </a:p>
          </p:txBody>
        </p:sp>
      </p:grpSp>
      <p:sp>
        <p:nvSpPr>
          <p:cNvPr id="56" name="TextBox 56"/>
          <p:cNvSpPr txBox="1"/>
          <p:nvPr/>
        </p:nvSpPr>
        <p:spPr>
          <a:xfrm>
            <a:off x="12244578" y="3762559"/>
            <a:ext cx="1711883" cy="481330"/>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Be Vietnam Italics"/>
                <a:ea typeface="Be Vietnam Italics"/>
                <a:cs typeface="Be Vietnam Italics"/>
                <a:sym typeface="Be Vietnam Italics"/>
              </a:rPr>
              <a:t>Reliability</a:t>
            </a:r>
          </a:p>
        </p:txBody>
      </p:sp>
      <p:sp>
        <p:nvSpPr>
          <p:cNvPr id="57" name="TextBox 57"/>
          <p:cNvSpPr txBox="1"/>
          <p:nvPr/>
        </p:nvSpPr>
        <p:spPr>
          <a:xfrm>
            <a:off x="11917307" y="2694209"/>
            <a:ext cx="2144316" cy="481330"/>
          </a:xfrm>
          <a:prstGeom prst="rect">
            <a:avLst/>
          </a:prstGeom>
        </p:spPr>
        <p:txBody>
          <a:bodyPr lIns="0" tIns="0" rIns="0" bIns="0" rtlCol="0" anchor="t">
            <a:spAutoFit/>
          </a:bodyPr>
          <a:lstStyle/>
          <a:p>
            <a:pPr algn="ctr">
              <a:lnSpc>
                <a:spcPts val="3919"/>
              </a:lnSpc>
              <a:spcBef>
                <a:spcPct val="0"/>
              </a:spcBef>
            </a:pPr>
            <a:r>
              <a:rPr lang="en-US" sz="2799" i="1">
                <a:solidFill>
                  <a:srgbClr val="FFFFFF"/>
                </a:solidFill>
                <a:latin typeface="Be Vietnam Italics"/>
                <a:ea typeface="Be Vietnam Italics"/>
                <a:cs typeface="Be Vietnam Italics"/>
                <a:sym typeface="Be Vietnam Italics"/>
              </a:rPr>
              <a:t>Usability</a:t>
            </a:r>
          </a:p>
        </p:txBody>
      </p:sp>
      <p:sp>
        <p:nvSpPr>
          <p:cNvPr id="58" name="TextBox 58"/>
          <p:cNvSpPr txBox="1"/>
          <p:nvPr/>
        </p:nvSpPr>
        <p:spPr>
          <a:xfrm>
            <a:off x="11810732" y="4929038"/>
            <a:ext cx="2579576" cy="481330"/>
          </a:xfrm>
          <a:prstGeom prst="rect">
            <a:avLst/>
          </a:prstGeom>
        </p:spPr>
        <p:txBody>
          <a:bodyPr lIns="0" tIns="0" rIns="0" bIns="0" rtlCol="0" anchor="t">
            <a:spAutoFit/>
          </a:bodyPr>
          <a:lstStyle/>
          <a:p>
            <a:pPr algn="ctr">
              <a:lnSpc>
                <a:spcPts val="3919"/>
              </a:lnSpc>
              <a:spcBef>
                <a:spcPct val="0"/>
              </a:spcBef>
            </a:pPr>
            <a:r>
              <a:rPr lang="en-US" sz="2799" i="1">
                <a:solidFill>
                  <a:srgbClr val="FFFFFF"/>
                </a:solidFill>
                <a:latin typeface="Be Vietnam Italics"/>
                <a:ea typeface="Be Vietnam Italics"/>
                <a:cs typeface="Be Vietnam Italics"/>
                <a:sym typeface="Be Vietnam Italics"/>
              </a:rPr>
              <a:t>Accuracy</a:t>
            </a:r>
          </a:p>
        </p:txBody>
      </p:sp>
      <p:sp>
        <p:nvSpPr>
          <p:cNvPr id="59" name="TextBox 59"/>
          <p:cNvSpPr txBox="1"/>
          <p:nvPr/>
        </p:nvSpPr>
        <p:spPr>
          <a:xfrm>
            <a:off x="11909858" y="7321549"/>
            <a:ext cx="2298025" cy="481330"/>
          </a:xfrm>
          <a:prstGeom prst="rect">
            <a:avLst/>
          </a:prstGeom>
        </p:spPr>
        <p:txBody>
          <a:bodyPr lIns="0" tIns="0" rIns="0" bIns="0" rtlCol="0" anchor="t">
            <a:spAutoFit/>
          </a:bodyPr>
          <a:lstStyle/>
          <a:p>
            <a:pPr algn="ctr">
              <a:lnSpc>
                <a:spcPts val="3919"/>
              </a:lnSpc>
              <a:spcBef>
                <a:spcPct val="0"/>
              </a:spcBef>
            </a:pPr>
            <a:r>
              <a:rPr lang="en-US" sz="2799" i="1">
                <a:solidFill>
                  <a:srgbClr val="FFFFFF"/>
                </a:solidFill>
                <a:latin typeface="Be Vietnam Italics"/>
                <a:ea typeface="Be Vietnam Italics"/>
                <a:cs typeface="Be Vietnam Italics"/>
                <a:sym typeface="Be Vietnam Italics"/>
              </a:rPr>
              <a:t>Compatibility</a:t>
            </a:r>
          </a:p>
        </p:txBody>
      </p:sp>
      <p:sp>
        <p:nvSpPr>
          <p:cNvPr id="60" name="TextBox 60"/>
          <p:cNvSpPr txBox="1"/>
          <p:nvPr/>
        </p:nvSpPr>
        <p:spPr>
          <a:xfrm>
            <a:off x="12056120" y="6209816"/>
            <a:ext cx="2005502" cy="481330"/>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Be Vietnam Italics"/>
                <a:ea typeface="Be Vietnam Italics"/>
                <a:cs typeface="Be Vietnam Italics"/>
                <a:sym typeface="Be Vietnam Italics"/>
              </a:rPr>
              <a:t>Scalability</a:t>
            </a:r>
          </a:p>
        </p:txBody>
      </p:sp>
      <p:sp>
        <p:nvSpPr>
          <p:cNvPr id="61" name="TextBox 61"/>
          <p:cNvSpPr txBox="1"/>
          <p:nvPr/>
        </p:nvSpPr>
        <p:spPr>
          <a:xfrm>
            <a:off x="11925474" y="8551894"/>
            <a:ext cx="2422524" cy="481330"/>
          </a:xfrm>
          <a:prstGeom prst="rect">
            <a:avLst/>
          </a:prstGeom>
        </p:spPr>
        <p:txBody>
          <a:bodyPr lIns="0" tIns="0" rIns="0" bIns="0" rtlCol="0" anchor="t">
            <a:spAutoFit/>
          </a:bodyPr>
          <a:lstStyle/>
          <a:p>
            <a:pPr algn="ctr">
              <a:lnSpc>
                <a:spcPts val="3919"/>
              </a:lnSpc>
              <a:spcBef>
                <a:spcPct val="0"/>
              </a:spcBef>
            </a:pPr>
            <a:r>
              <a:rPr lang="en-US" sz="2799" i="1">
                <a:solidFill>
                  <a:srgbClr val="000000"/>
                </a:solidFill>
                <a:latin typeface="Be Vietnam Italics"/>
                <a:ea typeface="Be Vietnam Italics"/>
                <a:cs typeface="Be Vietnam Italics"/>
                <a:sym typeface="Be Vietnam Italics"/>
              </a:rPr>
              <a:t>Accessibility</a:t>
            </a:r>
          </a:p>
        </p:txBody>
      </p:sp>
      <p:sp>
        <p:nvSpPr>
          <p:cNvPr id="62" name="TextBox 6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id="63" name="Freeform 63"/>
          <p:cNvSpPr/>
          <p:nvPr/>
        </p:nvSpPr>
        <p:spPr>
          <a:xfrm rot="-10800000">
            <a:off x="8191948" y="1675895"/>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4" name="Freeform 64"/>
          <p:cNvSpPr/>
          <p:nvPr/>
        </p:nvSpPr>
        <p:spPr>
          <a:xfrm rot="-10800000">
            <a:off x="8222914" y="2831531"/>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5" name="Freeform 65"/>
          <p:cNvSpPr/>
          <p:nvPr/>
        </p:nvSpPr>
        <p:spPr>
          <a:xfrm rot="-10800000">
            <a:off x="8191948" y="4031799"/>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6" name="Freeform 66"/>
          <p:cNvSpPr/>
          <p:nvPr/>
        </p:nvSpPr>
        <p:spPr>
          <a:xfrm rot="-10800000">
            <a:off x="8197198" y="6479056"/>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7" name="Freeform 67"/>
          <p:cNvSpPr/>
          <p:nvPr/>
        </p:nvSpPr>
        <p:spPr>
          <a:xfrm rot="-10800000">
            <a:off x="8222914" y="5143500"/>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8" name="Freeform 68"/>
          <p:cNvSpPr/>
          <p:nvPr/>
        </p:nvSpPr>
        <p:spPr>
          <a:xfrm rot="-10800000">
            <a:off x="8191948" y="7492111"/>
            <a:ext cx="2359706" cy="197357"/>
          </a:xfrm>
          <a:custGeom>
            <a:avLst/>
            <a:gdLst/>
            <a:ahLst/>
            <a:cxnLst/>
            <a:rect l="l" t="t" r="r" b="b"/>
            <a:pathLst>
              <a:path w="2359706" h="197357">
                <a:moveTo>
                  <a:pt x="0" y="0"/>
                </a:moveTo>
                <a:lnTo>
                  <a:pt x="2359706" y="0"/>
                </a:lnTo>
                <a:lnTo>
                  <a:pt x="2359706" y="197357"/>
                </a:lnTo>
                <a:lnTo>
                  <a:pt x="0" y="19735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69" name="Freeform 69"/>
          <p:cNvSpPr/>
          <p:nvPr/>
        </p:nvSpPr>
        <p:spPr>
          <a:xfrm rot="-10800000">
            <a:off x="8191948" y="8907461"/>
            <a:ext cx="2359706" cy="197357"/>
          </a:xfrm>
          <a:custGeom>
            <a:avLst/>
            <a:gdLst/>
            <a:ahLst/>
            <a:cxnLst/>
            <a:rect l="l" t="t" r="r" b="b"/>
            <a:pathLst>
              <a:path w="2359706" h="197357">
                <a:moveTo>
                  <a:pt x="0" y="0"/>
                </a:moveTo>
                <a:lnTo>
                  <a:pt x="2359706" y="0"/>
                </a:lnTo>
                <a:lnTo>
                  <a:pt x="2359706" y="197358"/>
                </a:lnTo>
                <a:lnTo>
                  <a:pt x="0" y="1973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9969946" y="7991887"/>
            <a:ext cx="8067881" cy="2090045"/>
          </a:xfrm>
          <a:prstGeom prst="rect">
            <a:avLst/>
          </a:prstGeom>
        </p:spPr>
        <p:txBody>
          <a:bodyPr lIns="0" tIns="0" rIns="0" bIns="0" rtlCol="0" anchor="t">
            <a:spAutoFit/>
          </a:bodyPr>
          <a:lstStyle/>
          <a:p>
            <a:pPr algn="l">
              <a:lnSpc>
                <a:spcPts val="15536"/>
              </a:lnSpc>
            </a:pPr>
            <a:r>
              <a:rPr lang="en-US" sz="15536" b="1" spc="-388">
                <a:solidFill>
                  <a:srgbClr val="FFFFFF">
                    <a:alpha val="49804"/>
                  </a:srgbClr>
                </a:solidFill>
                <a:latin typeface="Public Sans Heavy"/>
                <a:ea typeface="Public Sans Heavy"/>
                <a:cs typeface="Public Sans Heavy"/>
                <a:sym typeface="Public Sans Heavy"/>
              </a:rPr>
              <a:t>REALTY</a:t>
            </a:r>
          </a:p>
        </p:txBody>
      </p:sp>
      <p:grpSp>
        <p:nvGrpSpPr>
          <p:cNvPr id="3" name="Group 3"/>
          <p:cNvGrpSpPr/>
          <p:nvPr/>
        </p:nvGrpSpPr>
        <p:grpSpPr>
          <a:xfrm>
            <a:off x="4592592" y="3471364"/>
            <a:ext cx="9102815" cy="8940890"/>
            <a:chOff x="0" y="0"/>
            <a:chExt cx="812800" cy="798342"/>
          </a:xfrm>
        </p:grpSpPr>
        <p:sp>
          <p:nvSpPr>
            <p:cNvPr id="4" name="Freeform 4"/>
            <p:cNvSpPr/>
            <p:nvPr/>
          </p:nvSpPr>
          <p:spPr>
            <a:xfrm>
              <a:off x="0" y="0"/>
              <a:ext cx="812800" cy="798342"/>
            </a:xfrm>
            <a:custGeom>
              <a:avLst/>
              <a:gdLst/>
              <a:ahLst/>
              <a:cxnLst/>
              <a:rect l="l" t="t" r="r" b="b"/>
              <a:pathLst>
                <a:path w="812800" h="798342">
                  <a:moveTo>
                    <a:pt x="406400" y="0"/>
                  </a:moveTo>
                  <a:cubicBezTo>
                    <a:pt x="181951" y="0"/>
                    <a:pt x="0" y="178715"/>
                    <a:pt x="0" y="399171"/>
                  </a:cubicBezTo>
                  <a:cubicBezTo>
                    <a:pt x="0" y="619627"/>
                    <a:pt x="181951" y="798342"/>
                    <a:pt x="406400" y="798342"/>
                  </a:cubicBezTo>
                  <a:cubicBezTo>
                    <a:pt x="630849" y="798342"/>
                    <a:pt x="812800" y="619627"/>
                    <a:pt x="812800" y="399171"/>
                  </a:cubicBezTo>
                  <a:cubicBezTo>
                    <a:pt x="812800" y="178715"/>
                    <a:pt x="630849" y="0"/>
                    <a:pt x="406400" y="0"/>
                  </a:cubicBezTo>
                  <a:close/>
                </a:path>
              </a:pathLst>
            </a:custGeom>
            <a:ln w="19050" cap="sq">
              <a:solidFill>
                <a:srgbClr val="FFFFFF"/>
              </a:solidFill>
              <a:prstDash val="solid"/>
              <a:miter/>
            </a:ln>
          </p:spPr>
          <p:txBody>
            <a:bodyPr/>
            <a:lstStyle/>
            <a:p>
              <a:endParaRPr lang="en-US"/>
            </a:p>
          </p:txBody>
        </p:sp>
        <p:sp>
          <p:nvSpPr>
            <p:cNvPr id="5" name="TextBox 5"/>
            <p:cNvSpPr txBox="1"/>
            <p:nvPr/>
          </p:nvSpPr>
          <p:spPr>
            <a:xfrm>
              <a:off x="76200" y="46270"/>
              <a:ext cx="660400" cy="677228"/>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003122" y="3905705"/>
            <a:ext cx="8281757" cy="828175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5989939" y="3973044"/>
            <a:ext cx="6918081" cy="6352056"/>
          </a:xfrm>
          <a:custGeom>
            <a:avLst/>
            <a:gdLst/>
            <a:ahLst/>
            <a:cxnLst/>
            <a:rect l="l" t="t" r="r" b="b"/>
            <a:pathLst>
              <a:path w="6918081" h="6352056">
                <a:moveTo>
                  <a:pt x="6918080" y="0"/>
                </a:moveTo>
                <a:lnTo>
                  <a:pt x="0" y="0"/>
                </a:lnTo>
                <a:lnTo>
                  <a:pt x="0" y="6352056"/>
                </a:lnTo>
                <a:lnTo>
                  <a:pt x="6918080" y="6352056"/>
                </a:lnTo>
                <a:lnTo>
                  <a:pt x="6918080" y="0"/>
                </a:lnTo>
                <a:close/>
              </a:path>
            </a:pathLst>
          </a:custGeom>
          <a:blipFill>
            <a:blip>
              <a:alphaModFix amt="64000"/>
              <a:extLst>
                <a:ext uri="{96DAC541-7B7A-43D3-8B79-37D633B846F1}">
                  <asvg:svgBlip xmlns:asvg="http://schemas.microsoft.com/office/drawing/2016/SVG/main" r:embed="rId2"/>
                </a:ext>
              </a:extLst>
            </a:blip>
            <a:stretch>
              <a:fillRect/>
            </a:stretch>
          </a:blipFill>
        </p:spPr>
        <p:txBody>
          <a:bodyPr/>
          <a:lstStyle/>
          <a:p>
            <a:endParaRPr lang="en-US"/>
          </a:p>
        </p:txBody>
      </p:sp>
      <p:grpSp>
        <p:nvGrpSpPr>
          <p:cNvPr id="10" name="Group 10"/>
          <p:cNvGrpSpPr/>
          <p:nvPr/>
        </p:nvGrpSpPr>
        <p:grpSpPr>
          <a:xfrm>
            <a:off x="16564214" y="7550730"/>
            <a:ext cx="604933" cy="714215"/>
            <a:chOff x="0" y="0"/>
            <a:chExt cx="159324" cy="188106"/>
          </a:xfrm>
        </p:grpSpPr>
        <p:sp>
          <p:nvSpPr>
            <p:cNvPr id="11" name="Freeform 11"/>
            <p:cNvSpPr/>
            <p:nvPr/>
          </p:nvSpPr>
          <p:spPr>
            <a:xfrm>
              <a:off x="0" y="0"/>
              <a:ext cx="159324" cy="188106"/>
            </a:xfrm>
            <a:custGeom>
              <a:avLst/>
              <a:gdLst/>
              <a:ahLst/>
              <a:cxnLst/>
              <a:rect l="l" t="t" r="r" b="b"/>
              <a:pathLst>
                <a:path w="159324" h="188106">
                  <a:moveTo>
                    <a:pt x="79662" y="0"/>
                  </a:moveTo>
                  <a:lnTo>
                    <a:pt x="79662" y="0"/>
                  </a:lnTo>
                  <a:cubicBezTo>
                    <a:pt x="123658" y="0"/>
                    <a:pt x="159324" y="35666"/>
                    <a:pt x="159324" y="79662"/>
                  </a:cubicBezTo>
                  <a:lnTo>
                    <a:pt x="159324" y="108444"/>
                  </a:lnTo>
                  <a:cubicBezTo>
                    <a:pt x="159324" y="152440"/>
                    <a:pt x="123658" y="188106"/>
                    <a:pt x="79662" y="188106"/>
                  </a:cubicBezTo>
                  <a:lnTo>
                    <a:pt x="79662" y="188106"/>
                  </a:lnTo>
                  <a:cubicBezTo>
                    <a:pt x="35666" y="188106"/>
                    <a:pt x="0" y="152440"/>
                    <a:pt x="0" y="108444"/>
                  </a:cubicBezTo>
                  <a:lnTo>
                    <a:pt x="0" y="79662"/>
                  </a:lnTo>
                  <a:cubicBezTo>
                    <a:pt x="0" y="35666"/>
                    <a:pt x="35666" y="0"/>
                    <a:pt x="79662" y="0"/>
                  </a:cubicBezTo>
                  <a:close/>
                </a:path>
              </a:pathLst>
            </a:custGeom>
            <a:solidFill>
              <a:srgbClr val="F2F2F2"/>
            </a:solidFill>
          </p:spPr>
          <p:txBody>
            <a:bodyPr/>
            <a:lstStyle/>
            <a:p>
              <a:endParaRPr lang="en-US"/>
            </a:p>
          </p:txBody>
        </p:sp>
        <p:sp>
          <p:nvSpPr>
            <p:cNvPr id="12" name="TextBox 12"/>
            <p:cNvSpPr txBox="1"/>
            <p:nvPr/>
          </p:nvSpPr>
          <p:spPr>
            <a:xfrm>
              <a:off x="0" y="-28575"/>
              <a:ext cx="159324" cy="216681"/>
            </a:xfrm>
            <a:prstGeom prst="rect">
              <a:avLst/>
            </a:prstGeom>
          </p:spPr>
          <p:txBody>
            <a:bodyPr lIns="50800" tIns="50800" rIns="50800" bIns="50800" rtlCol="0" anchor="ctr"/>
            <a:lstStyle/>
            <a:p>
              <a:pPr algn="ctr">
                <a:lnSpc>
                  <a:spcPts val="2659"/>
                </a:lnSpc>
              </a:pPr>
              <a:endParaRPr/>
            </a:p>
          </p:txBody>
        </p:sp>
      </p:grpSp>
      <p:grpSp>
        <p:nvGrpSpPr>
          <p:cNvPr id="13" name="Group 13"/>
          <p:cNvGrpSpPr/>
          <p:nvPr/>
        </p:nvGrpSpPr>
        <p:grpSpPr>
          <a:xfrm>
            <a:off x="132403" y="2287507"/>
            <a:ext cx="8920378" cy="4634091"/>
            <a:chOff x="0" y="0"/>
            <a:chExt cx="11893838" cy="6178788"/>
          </a:xfrm>
        </p:grpSpPr>
        <p:sp>
          <p:nvSpPr>
            <p:cNvPr id="14" name="TextBox 14"/>
            <p:cNvSpPr txBox="1"/>
            <p:nvPr/>
          </p:nvSpPr>
          <p:spPr>
            <a:xfrm>
              <a:off x="0" y="1227052"/>
              <a:ext cx="11893838" cy="2880728"/>
            </a:xfrm>
            <a:prstGeom prst="rect">
              <a:avLst/>
            </a:prstGeom>
          </p:spPr>
          <p:txBody>
            <a:bodyPr lIns="0" tIns="0" rIns="0" bIns="0" rtlCol="0" anchor="t">
              <a:spAutoFit/>
            </a:bodyPr>
            <a:lstStyle/>
            <a:p>
              <a:pPr algn="r">
                <a:lnSpc>
                  <a:spcPts val="15536"/>
                </a:lnSpc>
              </a:pPr>
              <a:r>
                <a:rPr lang="en-US" sz="15536" b="1" spc="-388">
                  <a:solidFill>
                    <a:srgbClr val="FFFFFF">
                      <a:alpha val="49804"/>
                    </a:srgbClr>
                  </a:solidFill>
                  <a:latin typeface="Public Sans Heavy"/>
                  <a:ea typeface="Public Sans Heavy"/>
                  <a:cs typeface="Public Sans Heavy"/>
                  <a:sym typeface="Public Sans Heavy"/>
                </a:rPr>
                <a:t>VIRTUAL</a:t>
              </a:r>
            </a:p>
          </p:txBody>
        </p:sp>
        <p:grpSp>
          <p:nvGrpSpPr>
            <p:cNvPr id="15" name="Group 15"/>
            <p:cNvGrpSpPr/>
            <p:nvPr/>
          </p:nvGrpSpPr>
          <p:grpSpPr>
            <a:xfrm>
              <a:off x="416239" y="0"/>
              <a:ext cx="1901653" cy="1901653"/>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DAA40"/>
                </a:solidFill>
                <a:prstDash val="solid"/>
                <a:miter/>
              </a:ln>
            </p:spPr>
            <p:txBody>
              <a:bodyPr/>
              <a:lstStyle/>
              <a:p>
                <a:endParaRPr lang="en-US"/>
              </a:p>
            </p:txBody>
          </p:sp>
          <p:sp>
            <p:nvSpPr>
              <p:cNvPr id="17" name="TextBox 17"/>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18" name="Group 18"/>
            <p:cNvGrpSpPr/>
            <p:nvPr/>
          </p:nvGrpSpPr>
          <p:grpSpPr>
            <a:xfrm>
              <a:off x="567301" y="151062"/>
              <a:ext cx="1599529" cy="1599529"/>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AA40"/>
              </a:solidFill>
            </p:spPr>
            <p:txBody>
              <a:bodyPr/>
              <a:lstStyle/>
              <a:p>
                <a:endParaRPr lang="en-US"/>
              </a:p>
            </p:txBody>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21" name="Freeform 21"/>
            <p:cNvSpPr/>
            <p:nvPr/>
          </p:nvSpPr>
          <p:spPr>
            <a:xfrm>
              <a:off x="901507" y="576322"/>
              <a:ext cx="931119" cy="675484"/>
            </a:xfrm>
            <a:custGeom>
              <a:avLst/>
              <a:gdLst/>
              <a:ahLst/>
              <a:cxnLst/>
              <a:rect l="l" t="t" r="r" b="b"/>
              <a:pathLst>
                <a:path w="931119" h="675484">
                  <a:moveTo>
                    <a:pt x="0" y="0"/>
                  </a:moveTo>
                  <a:lnTo>
                    <a:pt x="931119" y="0"/>
                  </a:lnTo>
                  <a:lnTo>
                    <a:pt x="931119" y="675484"/>
                  </a:lnTo>
                  <a:lnTo>
                    <a:pt x="0" y="6754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TextBox 22"/>
            <p:cNvSpPr txBox="1"/>
            <p:nvPr/>
          </p:nvSpPr>
          <p:spPr>
            <a:xfrm>
              <a:off x="724278" y="2142056"/>
              <a:ext cx="7971670" cy="4036732"/>
            </a:xfrm>
            <a:prstGeom prst="rect">
              <a:avLst/>
            </a:prstGeom>
          </p:spPr>
          <p:txBody>
            <a:bodyPr lIns="0" tIns="0" rIns="0" bIns="0" rtlCol="0" anchor="t">
              <a:spAutoFit/>
            </a:bodyPr>
            <a:lstStyle/>
            <a:p>
              <a:pPr marL="630306" lvl="1" indent="-315153" algn="l">
                <a:lnSpc>
                  <a:spcPts val="4087"/>
                </a:lnSpc>
                <a:buFont typeface="Arial"/>
                <a:buChar char="•"/>
              </a:pPr>
              <a:r>
                <a:rPr lang="en-US" sz="2919">
                  <a:solidFill>
                    <a:srgbClr val="262626"/>
                  </a:solidFill>
                  <a:latin typeface="Be Vietnam"/>
                  <a:ea typeface="Be Vietnam"/>
                  <a:cs typeface="Be Vietnam"/>
                  <a:sym typeface="Be Vietnam"/>
                </a:rPr>
                <a:t>Improves conceptual clarity</a:t>
              </a:r>
            </a:p>
            <a:p>
              <a:pPr marL="630306" lvl="1" indent="-315153" algn="l">
                <a:lnSpc>
                  <a:spcPts val="4087"/>
                </a:lnSpc>
                <a:buFont typeface="Arial"/>
                <a:buChar char="•"/>
              </a:pPr>
              <a:r>
                <a:rPr lang="en-US" sz="2919">
                  <a:solidFill>
                    <a:srgbClr val="262626"/>
                  </a:solidFill>
                  <a:latin typeface="Be Vietnam"/>
                  <a:ea typeface="Be Vietnam"/>
                  <a:cs typeface="Be Vietnam"/>
                  <a:sym typeface="Be Vietnam"/>
                </a:rPr>
                <a:t>Enhances spatial understanding</a:t>
              </a:r>
            </a:p>
            <a:p>
              <a:pPr marL="630306" lvl="1" indent="-315153" algn="l">
                <a:lnSpc>
                  <a:spcPts val="4087"/>
                </a:lnSpc>
                <a:buFont typeface="Arial"/>
                <a:buChar char="•"/>
              </a:pPr>
              <a:r>
                <a:rPr lang="en-US" sz="2919">
                  <a:solidFill>
                    <a:srgbClr val="262626"/>
                  </a:solidFill>
                  <a:latin typeface="Be Vietnam"/>
                  <a:ea typeface="Be Vietnam"/>
                  <a:cs typeface="Be Vietnam"/>
                  <a:sym typeface="Be Vietnam"/>
                </a:rPr>
                <a:t>Reduces dependency on cadavers</a:t>
              </a:r>
            </a:p>
            <a:p>
              <a:pPr marL="630306" lvl="1" indent="-315153" algn="l">
                <a:lnSpc>
                  <a:spcPts val="4087"/>
                </a:lnSpc>
                <a:buFont typeface="Arial"/>
                <a:buChar char="•"/>
              </a:pPr>
              <a:r>
                <a:rPr lang="en-US" sz="2919">
                  <a:solidFill>
                    <a:srgbClr val="262626"/>
                  </a:solidFill>
                  <a:latin typeface="Be Vietnam"/>
                  <a:ea typeface="Be Vietnam"/>
                  <a:cs typeface="Be Vietnam"/>
                  <a:sym typeface="Be Vietnam"/>
                </a:rPr>
                <a:t>Enables self-paced learning</a:t>
              </a:r>
            </a:p>
          </p:txBody>
        </p:sp>
      </p:grpSp>
      <p:grpSp>
        <p:nvGrpSpPr>
          <p:cNvPr id="23" name="Group 23"/>
          <p:cNvGrpSpPr/>
          <p:nvPr/>
        </p:nvGrpSpPr>
        <p:grpSpPr>
          <a:xfrm>
            <a:off x="11642385" y="2287507"/>
            <a:ext cx="6966089" cy="4661337"/>
            <a:chOff x="0" y="0"/>
            <a:chExt cx="9288118" cy="6215115"/>
          </a:xfrm>
        </p:grpSpPr>
        <p:grpSp>
          <p:nvGrpSpPr>
            <p:cNvPr id="24" name="Group 24"/>
            <p:cNvGrpSpPr/>
            <p:nvPr/>
          </p:nvGrpSpPr>
          <p:grpSpPr>
            <a:xfrm>
              <a:off x="0" y="0"/>
              <a:ext cx="1901653" cy="1901653"/>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DAA40"/>
                </a:solidFill>
                <a:prstDash val="solid"/>
                <a:miter/>
              </a:ln>
            </p:spPr>
            <p:txBody>
              <a:bodyPr/>
              <a:lstStyle/>
              <a:p>
                <a:endParaRPr lang="en-US"/>
              </a:p>
            </p:txBody>
          </p:sp>
          <p:sp>
            <p:nvSpPr>
              <p:cNvPr id="26" name="TextBox 26"/>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27" name="Group 27"/>
            <p:cNvGrpSpPr/>
            <p:nvPr/>
          </p:nvGrpSpPr>
          <p:grpSpPr>
            <a:xfrm>
              <a:off x="151062" y="151062"/>
              <a:ext cx="1599529" cy="159952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AA40"/>
              </a:solidFill>
            </p:spPr>
            <p:txBody>
              <a:bodyPr/>
              <a:lstStyle/>
              <a:p>
                <a:endParaRPr lang="en-US"/>
              </a:p>
            </p:txBody>
          </p:sp>
          <p:sp>
            <p:nvSpPr>
              <p:cNvPr id="29" name="TextBox 29"/>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30" name="Freeform 30"/>
            <p:cNvSpPr/>
            <p:nvPr/>
          </p:nvSpPr>
          <p:spPr>
            <a:xfrm rot="5400000">
              <a:off x="728159" y="465285"/>
              <a:ext cx="496135" cy="971083"/>
            </a:xfrm>
            <a:custGeom>
              <a:avLst/>
              <a:gdLst/>
              <a:ahLst/>
              <a:cxnLst/>
              <a:rect l="l" t="t" r="r" b="b"/>
              <a:pathLst>
                <a:path w="496135" h="971083">
                  <a:moveTo>
                    <a:pt x="0" y="0"/>
                  </a:moveTo>
                  <a:lnTo>
                    <a:pt x="496135" y="0"/>
                  </a:lnTo>
                  <a:lnTo>
                    <a:pt x="496135" y="971083"/>
                  </a:lnTo>
                  <a:lnTo>
                    <a:pt x="0" y="97108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1" name="TextBox 31"/>
            <p:cNvSpPr txBox="1"/>
            <p:nvPr/>
          </p:nvSpPr>
          <p:spPr>
            <a:xfrm>
              <a:off x="1901653" y="719475"/>
              <a:ext cx="6352118" cy="491278"/>
            </a:xfrm>
            <a:prstGeom prst="rect">
              <a:avLst/>
            </a:prstGeom>
          </p:spPr>
          <p:txBody>
            <a:bodyPr lIns="0" tIns="0" rIns="0" bIns="0" rtlCol="0" anchor="t">
              <a:spAutoFit/>
            </a:bodyPr>
            <a:lstStyle/>
            <a:p>
              <a:pPr algn="l">
                <a:lnSpc>
                  <a:spcPts val="2600"/>
                </a:lnSpc>
              </a:pPr>
              <a:r>
                <a:rPr lang="en-US" sz="2600" b="1" spc="-65">
                  <a:solidFill>
                    <a:srgbClr val="262626"/>
                  </a:solidFill>
                  <a:latin typeface="Public Sans Heavy"/>
                  <a:ea typeface="Public Sans Heavy"/>
                  <a:cs typeface="Public Sans Heavy"/>
                  <a:sym typeface="Public Sans Heavy"/>
                </a:rPr>
                <a:t> COST/ACCESS ADVANTAGE</a:t>
              </a:r>
            </a:p>
          </p:txBody>
        </p:sp>
        <p:sp>
          <p:nvSpPr>
            <p:cNvPr id="32" name="TextBox 32"/>
            <p:cNvSpPr txBox="1"/>
            <p:nvPr/>
          </p:nvSpPr>
          <p:spPr>
            <a:xfrm>
              <a:off x="528710" y="2142056"/>
              <a:ext cx="8759408" cy="4073059"/>
            </a:xfrm>
            <a:prstGeom prst="rect">
              <a:avLst/>
            </a:prstGeom>
          </p:spPr>
          <p:txBody>
            <a:bodyPr lIns="0" tIns="0" rIns="0" bIns="0" rtlCol="0" anchor="t">
              <a:spAutoFit/>
            </a:bodyPr>
            <a:lstStyle/>
            <a:p>
              <a:pPr marL="630427" lvl="1" indent="-315214" algn="l">
                <a:lnSpc>
                  <a:spcPts val="4087"/>
                </a:lnSpc>
                <a:buFont typeface="Arial"/>
                <a:buChar char="•"/>
              </a:pPr>
              <a:r>
                <a:rPr lang="en-US" sz="2919">
                  <a:solidFill>
                    <a:srgbClr val="262626"/>
                  </a:solidFill>
                  <a:latin typeface="Be Vietnam"/>
                  <a:ea typeface="Be Vietnam"/>
                  <a:cs typeface="Be Vietnam"/>
                  <a:sym typeface="Be Vietnam"/>
                </a:rPr>
                <a:t>One VR system can be reusable for unlimited students</a:t>
              </a:r>
            </a:p>
            <a:p>
              <a:pPr marL="630427" lvl="1" indent="-315214" algn="l">
                <a:lnSpc>
                  <a:spcPts val="4087"/>
                </a:lnSpc>
                <a:buFont typeface="Arial"/>
                <a:buChar char="•"/>
              </a:pPr>
              <a:r>
                <a:rPr lang="en-US" sz="2919">
                  <a:solidFill>
                    <a:srgbClr val="262626"/>
                  </a:solidFill>
                  <a:latin typeface="Be Vietnam"/>
                  <a:ea typeface="Be Vietnam"/>
                  <a:cs typeface="Be Vietnam"/>
                  <a:sym typeface="Be Vietnam"/>
                </a:rPr>
                <a:t>No lab limitations</a:t>
              </a:r>
            </a:p>
            <a:p>
              <a:pPr marL="630427" lvl="1" indent="-315214" algn="l">
                <a:lnSpc>
                  <a:spcPts val="4087"/>
                </a:lnSpc>
                <a:buFont typeface="Arial"/>
                <a:buChar char="•"/>
              </a:pPr>
              <a:r>
                <a:rPr lang="en-US" sz="2919">
                  <a:solidFill>
                    <a:srgbClr val="262626"/>
                  </a:solidFill>
                  <a:latin typeface="Be Vietnam"/>
                  <a:ea typeface="Be Vietnam"/>
                  <a:cs typeface="Be Vietnam"/>
                  <a:sym typeface="Be Vietnam"/>
                </a:rPr>
                <a:t>Works offline</a:t>
              </a:r>
            </a:p>
            <a:p>
              <a:pPr marL="630427" lvl="1" indent="-315214" algn="l">
                <a:lnSpc>
                  <a:spcPts val="4087"/>
                </a:lnSpc>
                <a:buFont typeface="Arial"/>
                <a:buChar char="•"/>
              </a:pPr>
              <a:r>
                <a:rPr lang="en-US" sz="2919">
                  <a:solidFill>
                    <a:srgbClr val="262626"/>
                  </a:solidFill>
                  <a:latin typeface="Be Vietnam"/>
                  <a:ea typeface="Be Vietnam"/>
                  <a:cs typeface="Be Vietnam"/>
                  <a:sym typeface="Be Vietnam"/>
                </a:rPr>
                <a:t>Easily scalable for additional modules and organs</a:t>
              </a:r>
            </a:p>
          </p:txBody>
        </p:sp>
      </p:grpSp>
      <p:sp>
        <p:nvSpPr>
          <p:cNvPr id="33" name="TextBox 33"/>
          <p:cNvSpPr txBox="1"/>
          <p:nvPr/>
        </p:nvSpPr>
        <p:spPr>
          <a:xfrm>
            <a:off x="6888533" y="721394"/>
            <a:ext cx="4328497" cy="1137285"/>
          </a:xfrm>
          <a:prstGeom prst="rect">
            <a:avLst/>
          </a:prstGeom>
        </p:spPr>
        <p:txBody>
          <a:bodyPr lIns="0" tIns="0" rIns="0" bIns="0" rtlCol="0" anchor="t">
            <a:spAutoFit/>
          </a:bodyPr>
          <a:lstStyle/>
          <a:p>
            <a:pPr algn="l">
              <a:lnSpc>
                <a:spcPts val="8400"/>
              </a:lnSpc>
            </a:pPr>
            <a:r>
              <a:rPr lang="en-US" sz="8400" b="1" spc="-210">
                <a:solidFill>
                  <a:srgbClr val="262626"/>
                </a:solidFill>
                <a:latin typeface="Public Sans Heavy"/>
                <a:ea typeface="Public Sans Heavy"/>
                <a:cs typeface="Public Sans Heavy"/>
                <a:sym typeface="Public Sans Heavy"/>
              </a:rPr>
              <a:t>IMPACT</a:t>
            </a:r>
          </a:p>
        </p:txBody>
      </p:sp>
      <p:sp>
        <p:nvSpPr>
          <p:cNvPr id="34" name="TextBox 34"/>
          <p:cNvSpPr txBox="1"/>
          <p:nvPr/>
        </p:nvSpPr>
        <p:spPr>
          <a:xfrm>
            <a:off x="1983291" y="2834257"/>
            <a:ext cx="3019830" cy="361315"/>
          </a:xfrm>
          <a:prstGeom prst="rect">
            <a:avLst/>
          </a:prstGeom>
        </p:spPr>
        <p:txBody>
          <a:bodyPr lIns="0" tIns="0" rIns="0" bIns="0" rtlCol="0" anchor="t">
            <a:spAutoFit/>
          </a:bodyPr>
          <a:lstStyle/>
          <a:p>
            <a:pPr algn="l">
              <a:lnSpc>
                <a:spcPts val="2600"/>
              </a:lnSpc>
            </a:pPr>
            <a:r>
              <a:rPr lang="en-US" sz="2600" b="1" spc="-65">
                <a:solidFill>
                  <a:srgbClr val="262626"/>
                </a:solidFill>
                <a:latin typeface="Public Sans Heavy"/>
                <a:ea typeface="Public Sans Heavy"/>
                <a:cs typeface="Public Sans Heavy"/>
                <a:sym typeface="Public Sans Heavy"/>
              </a:rPr>
              <a:t>IMPACT &amp; VALUE</a:t>
            </a:r>
          </a:p>
        </p:txBody>
      </p:sp>
      <p:sp>
        <p:nvSpPr>
          <p:cNvPr id="35" name="TextBox 35"/>
          <p:cNvSpPr txBox="1"/>
          <p:nvPr/>
        </p:nvSpPr>
        <p:spPr>
          <a:xfrm>
            <a:off x="14307169" y="7880172"/>
            <a:ext cx="1965788" cy="306738"/>
          </a:xfrm>
          <a:prstGeom prst="rect">
            <a:avLst/>
          </a:prstGeom>
        </p:spPr>
        <p:txBody>
          <a:bodyPr lIns="0" tIns="0" rIns="0" bIns="0" rtlCol="0" anchor="t">
            <a:spAutoFit/>
          </a:bodyPr>
          <a:lstStyle/>
          <a:p>
            <a:pPr algn="l">
              <a:lnSpc>
                <a:spcPts val="2520"/>
              </a:lnSpc>
              <a:spcBef>
                <a:spcPct val="0"/>
              </a:spcBef>
            </a:pPr>
            <a:r>
              <a:rPr lang="en-US" sz="1800">
                <a:solidFill>
                  <a:srgbClr val="F2F2F2"/>
                </a:solidFill>
                <a:latin typeface="Be Vietnam"/>
                <a:ea typeface="Be Vietnam"/>
                <a:cs typeface="Be Vietnam"/>
                <a:sym typeface="Be Vietnam"/>
              </a:rPr>
              <a:t>VR Expert</a:t>
            </a:r>
          </a:p>
        </p:txBody>
      </p:sp>
      <p:sp>
        <p:nvSpPr>
          <p:cNvPr id="36" name="TextBox 36"/>
          <p:cNvSpPr txBox="1"/>
          <p:nvPr/>
        </p:nvSpPr>
        <p:spPr>
          <a:xfrm>
            <a:off x="14307169" y="7656409"/>
            <a:ext cx="2181789" cy="279400"/>
          </a:xfrm>
          <a:prstGeom prst="rect">
            <a:avLst/>
          </a:prstGeom>
        </p:spPr>
        <p:txBody>
          <a:bodyPr lIns="0" tIns="0" rIns="0" bIns="0" rtlCol="0" anchor="t">
            <a:spAutoFit/>
          </a:bodyPr>
          <a:lstStyle/>
          <a:p>
            <a:pPr marL="0" lvl="0" indent="0" algn="l">
              <a:lnSpc>
                <a:spcPts val="2000"/>
              </a:lnSpc>
              <a:spcBef>
                <a:spcPct val="0"/>
              </a:spcBef>
            </a:pPr>
            <a:r>
              <a:rPr lang="en-US" sz="2000" b="1" spc="-50">
                <a:solidFill>
                  <a:srgbClr val="F2F2F2"/>
                </a:solidFill>
                <a:latin typeface="Public Sans Heavy"/>
                <a:ea typeface="Public Sans Heavy"/>
                <a:cs typeface="Public Sans Heavy"/>
                <a:sym typeface="Public Sans Heavy"/>
              </a:rPr>
              <a:t>JMIE CHASTAIN</a:t>
            </a:r>
          </a:p>
        </p:txBody>
      </p:sp>
      <p:grpSp>
        <p:nvGrpSpPr>
          <p:cNvPr id="37" name="Group 37"/>
          <p:cNvGrpSpPr/>
          <p:nvPr/>
        </p:nvGrpSpPr>
        <p:grpSpPr>
          <a:xfrm>
            <a:off x="14837228" y="9258300"/>
            <a:ext cx="2887313" cy="802001"/>
            <a:chOff x="0" y="0"/>
            <a:chExt cx="3849751" cy="1069334"/>
          </a:xfrm>
        </p:grpSpPr>
        <p:grpSp>
          <p:nvGrpSpPr>
            <p:cNvPr id="38" name="Group 38"/>
            <p:cNvGrpSpPr/>
            <p:nvPr/>
          </p:nvGrpSpPr>
          <p:grpSpPr>
            <a:xfrm>
              <a:off x="0" y="0"/>
              <a:ext cx="3849751" cy="1069334"/>
              <a:chOff x="0" y="0"/>
              <a:chExt cx="1033028" cy="286941"/>
            </a:xfrm>
          </p:grpSpPr>
          <p:sp>
            <p:nvSpPr>
              <p:cNvPr id="39" name="Freeform 39"/>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40" name="TextBox 40"/>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41" name="Group 41"/>
            <p:cNvGrpSpPr/>
            <p:nvPr/>
          </p:nvGrpSpPr>
          <p:grpSpPr>
            <a:xfrm>
              <a:off x="2772734" y="0"/>
              <a:ext cx="1077017" cy="1069334"/>
              <a:chOff x="0" y="0"/>
              <a:chExt cx="289003" cy="286941"/>
            </a:xfrm>
          </p:grpSpPr>
          <p:sp>
            <p:nvSpPr>
              <p:cNvPr id="42" name="Freeform 42"/>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43" name="TextBox 43"/>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44" name="Freeform 44"/>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45" name="TextBox 45"/>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sp>
        <p:nvSpPr>
          <p:cNvPr id="46" name="TextBox 46"/>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grpSp>
        <p:nvGrpSpPr>
          <p:cNvPr id="2" name="Group 2"/>
          <p:cNvGrpSpPr/>
          <p:nvPr/>
        </p:nvGrpSpPr>
        <p:grpSpPr>
          <a:xfrm>
            <a:off x="-396240" y="530970"/>
            <a:ext cx="11023055" cy="11023055"/>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0890" y="1028100"/>
            <a:ext cx="10028795" cy="1002879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028700" y="1434591"/>
            <a:ext cx="4920522" cy="8852409"/>
          </a:xfrm>
          <a:custGeom>
            <a:avLst/>
            <a:gdLst/>
            <a:ahLst/>
            <a:cxnLst/>
            <a:rect l="l" t="t" r="r" b="b"/>
            <a:pathLst>
              <a:path w="4920522" h="8852409">
                <a:moveTo>
                  <a:pt x="0" y="0"/>
                </a:moveTo>
                <a:lnTo>
                  <a:pt x="4920522" y="0"/>
                </a:lnTo>
                <a:lnTo>
                  <a:pt x="4920522" y="8852409"/>
                </a:lnTo>
                <a:lnTo>
                  <a:pt x="0" y="8852409"/>
                </a:lnTo>
                <a:lnTo>
                  <a:pt x="0" y="0"/>
                </a:lnTo>
                <a:close/>
              </a:path>
            </a:pathLst>
          </a:custGeom>
          <a:blipFill>
            <a:blip>
              <a:extLst>
                <a:ext uri="{96DAC541-7B7A-43D3-8B79-37D633B846F1}">
                  <asvg:svgBlip xmlns:asvg="http://schemas.microsoft.com/office/drawing/2016/SVG/main" r:embed="rId2"/>
                </a:ext>
              </a:extLst>
            </a:blip>
            <a:stretch>
              <a:fillRect r="-94782"/>
            </a:stretch>
          </a:blipFill>
        </p:spPr>
        <p:txBody>
          <a:bodyPr/>
          <a:lstStyle/>
          <a:p>
            <a:endParaRPr lang="en-US"/>
          </a:p>
        </p:txBody>
      </p:sp>
      <p:grpSp>
        <p:nvGrpSpPr>
          <p:cNvPr id="9" name="Group 9"/>
          <p:cNvGrpSpPr/>
          <p:nvPr/>
        </p:nvGrpSpPr>
        <p:grpSpPr>
          <a:xfrm>
            <a:off x="8635986" y="4053810"/>
            <a:ext cx="3981659" cy="675696"/>
            <a:chOff x="0" y="0"/>
            <a:chExt cx="5308878" cy="900928"/>
          </a:xfrm>
        </p:grpSpPr>
        <p:grpSp>
          <p:nvGrpSpPr>
            <p:cNvPr id="10" name="Group 10"/>
            <p:cNvGrpSpPr/>
            <p:nvPr/>
          </p:nvGrpSpPr>
          <p:grpSpPr>
            <a:xfrm>
              <a:off x="0" y="0"/>
              <a:ext cx="5111786" cy="900928"/>
              <a:chOff x="0" y="0"/>
              <a:chExt cx="1009736" cy="177961"/>
            </a:xfrm>
          </p:grpSpPr>
          <p:sp>
            <p:nvSpPr>
              <p:cNvPr id="11" name="Freeform 11"/>
              <p:cNvSpPr/>
              <p:nvPr/>
            </p:nvSpPr>
            <p:spPr>
              <a:xfrm>
                <a:off x="0" y="0"/>
                <a:ext cx="1009736" cy="177961"/>
              </a:xfrm>
              <a:custGeom>
                <a:avLst/>
                <a:gdLst/>
                <a:ahLst/>
                <a:cxnLst/>
                <a:rect l="l" t="t" r="r" b="b"/>
                <a:pathLst>
                  <a:path w="1009736" h="177961">
                    <a:moveTo>
                      <a:pt x="20194" y="0"/>
                    </a:moveTo>
                    <a:lnTo>
                      <a:pt x="989542" y="0"/>
                    </a:lnTo>
                    <a:cubicBezTo>
                      <a:pt x="994898" y="0"/>
                      <a:pt x="1000034" y="2128"/>
                      <a:pt x="1003821" y="5915"/>
                    </a:cubicBezTo>
                    <a:cubicBezTo>
                      <a:pt x="1007608" y="9702"/>
                      <a:pt x="1009736" y="14838"/>
                      <a:pt x="1009736" y="20194"/>
                    </a:cubicBezTo>
                    <a:lnTo>
                      <a:pt x="1009736" y="157767"/>
                    </a:lnTo>
                    <a:cubicBezTo>
                      <a:pt x="1009736" y="168920"/>
                      <a:pt x="1000695" y="177961"/>
                      <a:pt x="989542" y="177961"/>
                    </a:cubicBezTo>
                    <a:lnTo>
                      <a:pt x="20194" y="177961"/>
                    </a:lnTo>
                    <a:cubicBezTo>
                      <a:pt x="14838" y="177961"/>
                      <a:pt x="9702" y="175834"/>
                      <a:pt x="5915" y="172046"/>
                    </a:cubicBezTo>
                    <a:cubicBezTo>
                      <a:pt x="2128" y="168259"/>
                      <a:pt x="0" y="163123"/>
                      <a:pt x="0" y="157767"/>
                    </a:cubicBezTo>
                    <a:lnTo>
                      <a:pt x="0" y="20194"/>
                    </a:lnTo>
                    <a:cubicBezTo>
                      <a:pt x="0" y="9041"/>
                      <a:pt x="9041" y="0"/>
                      <a:pt x="20194" y="0"/>
                    </a:cubicBezTo>
                    <a:close/>
                  </a:path>
                </a:pathLst>
              </a:custGeom>
              <a:solidFill>
                <a:srgbClr val="383686"/>
              </a:solidFill>
            </p:spPr>
            <p:txBody>
              <a:bodyPr/>
              <a:lstStyle/>
              <a:p>
                <a:endParaRPr lang="en-US"/>
              </a:p>
            </p:txBody>
          </p:sp>
          <p:sp>
            <p:nvSpPr>
              <p:cNvPr id="12" name="TextBox 12"/>
              <p:cNvSpPr txBox="1"/>
              <p:nvPr/>
            </p:nvSpPr>
            <p:spPr>
              <a:xfrm>
                <a:off x="0" y="-28575"/>
                <a:ext cx="1009736" cy="206536"/>
              </a:xfrm>
              <a:prstGeom prst="rect">
                <a:avLst/>
              </a:prstGeom>
            </p:spPr>
            <p:txBody>
              <a:bodyPr lIns="50800" tIns="50800" rIns="50800" bIns="50800" rtlCol="0" anchor="ctr"/>
              <a:lstStyle/>
              <a:p>
                <a:pPr algn="l">
                  <a:lnSpc>
                    <a:spcPts val="2659"/>
                  </a:lnSpc>
                </a:pPr>
                <a:endParaRPr/>
              </a:p>
            </p:txBody>
          </p:sp>
        </p:grpSp>
        <p:sp>
          <p:nvSpPr>
            <p:cNvPr id="13" name="TextBox 13"/>
            <p:cNvSpPr txBox="1"/>
            <p:nvPr/>
          </p:nvSpPr>
          <p:spPr>
            <a:xfrm>
              <a:off x="219121" y="115177"/>
              <a:ext cx="5089757" cy="525145"/>
            </a:xfrm>
            <a:prstGeom prst="rect">
              <a:avLst/>
            </a:prstGeom>
          </p:spPr>
          <p:txBody>
            <a:bodyPr lIns="0" tIns="0" rIns="0" bIns="0" rtlCol="0" anchor="t">
              <a:spAutoFit/>
            </a:bodyPr>
            <a:lstStyle/>
            <a:p>
              <a:pPr algn="l">
                <a:lnSpc>
                  <a:spcPts val="3359"/>
                </a:lnSpc>
              </a:pPr>
              <a:r>
                <a:rPr lang="en-US" sz="2400">
                  <a:solidFill>
                    <a:srgbClr val="F2F2F2"/>
                  </a:solidFill>
                  <a:latin typeface="Be Vietnam"/>
                  <a:ea typeface="Be Vietnam"/>
                  <a:cs typeface="Be Vietnam"/>
                  <a:sym typeface="Be Vietnam"/>
                </a:rPr>
                <a:t>Full human body system</a:t>
              </a:r>
            </a:p>
          </p:txBody>
        </p:sp>
      </p:grpSp>
      <p:grpSp>
        <p:nvGrpSpPr>
          <p:cNvPr id="14" name="Group 14"/>
          <p:cNvGrpSpPr/>
          <p:nvPr/>
        </p:nvGrpSpPr>
        <p:grpSpPr>
          <a:xfrm>
            <a:off x="11862249" y="5130326"/>
            <a:ext cx="5611497" cy="730470"/>
            <a:chOff x="0" y="0"/>
            <a:chExt cx="7481996" cy="973960"/>
          </a:xfrm>
        </p:grpSpPr>
        <p:grpSp>
          <p:nvGrpSpPr>
            <p:cNvPr id="15" name="Group 15"/>
            <p:cNvGrpSpPr/>
            <p:nvPr/>
          </p:nvGrpSpPr>
          <p:grpSpPr>
            <a:xfrm>
              <a:off x="0" y="0"/>
              <a:ext cx="7481996" cy="973960"/>
              <a:chOff x="0" y="0"/>
              <a:chExt cx="1477925" cy="192387"/>
            </a:xfrm>
          </p:grpSpPr>
          <p:sp>
            <p:nvSpPr>
              <p:cNvPr id="16" name="Freeform 16"/>
              <p:cNvSpPr/>
              <p:nvPr/>
            </p:nvSpPr>
            <p:spPr>
              <a:xfrm>
                <a:off x="0" y="0"/>
                <a:ext cx="1477925" cy="192387"/>
              </a:xfrm>
              <a:custGeom>
                <a:avLst/>
                <a:gdLst/>
                <a:ahLst/>
                <a:cxnLst/>
                <a:rect l="l" t="t" r="r" b="b"/>
                <a:pathLst>
                  <a:path w="1477925" h="192387">
                    <a:moveTo>
                      <a:pt x="13797" y="0"/>
                    </a:moveTo>
                    <a:lnTo>
                      <a:pt x="1464129" y="0"/>
                    </a:lnTo>
                    <a:cubicBezTo>
                      <a:pt x="1471748" y="0"/>
                      <a:pt x="1477925" y="6177"/>
                      <a:pt x="1477925" y="13797"/>
                    </a:cubicBezTo>
                    <a:lnTo>
                      <a:pt x="1477925" y="178591"/>
                    </a:lnTo>
                    <a:cubicBezTo>
                      <a:pt x="1477925" y="182250"/>
                      <a:pt x="1476472" y="185759"/>
                      <a:pt x="1473884" y="188346"/>
                    </a:cubicBezTo>
                    <a:cubicBezTo>
                      <a:pt x="1471297" y="190934"/>
                      <a:pt x="1467788" y="192387"/>
                      <a:pt x="1464129" y="192387"/>
                    </a:cubicBezTo>
                    <a:lnTo>
                      <a:pt x="13797" y="192387"/>
                    </a:lnTo>
                    <a:cubicBezTo>
                      <a:pt x="6177" y="192387"/>
                      <a:pt x="0" y="186210"/>
                      <a:pt x="0" y="178591"/>
                    </a:cubicBezTo>
                    <a:lnTo>
                      <a:pt x="0" y="13797"/>
                    </a:lnTo>
                    <a:cubicBezTo>
                      <a:pt x="0" y="6177"/>
                      <a:pt x="6177" y="0"/>
                      <a:pt x="13797" y="0"/>
                    </a:cubicBezTo>
                    <a:close/>
                  </a:path>
                </a:pathLst>
              </a:custGeom>
              <a:solidFill>
                <a:srgbClr val="383686"/>
              </a:solidFill>
            </p:spPr>
            <p:txBody>
              <a:bodyPr/>
              <a:lstStyle/>
              <a:p>
                <a:endParaRPr lang="en-US"/>
              </a:p>
            </p:txBody>
          </p:sp>
          <p:sp>
            <p:nvSpPr>
              <p:cNvPr id="17" name="TextBox 17"/>
              <p:cNvSpPr txBox="1"/>
              <p:nvPr/>
            </p:nvSpPr>
            <p:spPr>
              <a:xfrm>
                <a:off x="0" y="-28575"/>
                <a:ext cx="1477925" cy="220962"/>
              </a:xfrm>
              <a:prstGeom prst="rect">
                <a:avLst/>
              </a:prstGeom>
            </p:spPr>
            <p:txBody>
              <a:bodyPr lIns="50800" tIns="50800" rIns="50800" bIns="50800" rtlCol="0" anchor="ctr"/>
              <a:lstStyle/>
              <a:p>
                <a:pPr algn="l">
                  <a:lnSpc>
                    <a:spcPts val="2659"/>
                  </a:lnSpc>
                </a:pPr>
                <a:endParaRPr/>
              </a:p>
            </p:txBody>
          </p:sp>
        </p:grpSp>
        <p:sp>
          <p:nvSpPr>
            <p:cNvPr id="18" name="TextBox 18"/>
            <p:cNvSpPr txBox="1"/>
            <p:nvPr/>
          </p:nvSpPr>
          <p:spPr>
            <a:xfrm>
              <a:off x="245498" y="200595"/>
              <a:ext cx="6990999" cy="525145"/>
            </a:xfrm>
            <a:prstGeom prst="rect">
              <a:avLst/>
            </a:prstGeom>
          </p:spPr>
          <p:txBody>
            <a:bodyPr lIns="0" tIns="0" rIns="0" bIns="0" rtlCol="0" anchor="t">
              <a:spAutoFit/>
            </a:bodyPr>
            <a:lstStyle/>
            <a:p>
              <a:pPr algn="l">
                <a:lnSpc>
                  <a:spcPts val="3359"/>
                </a:lnSpc>
              </a:pPr>
              <a:r>
                <a:rPr lang="en-US" sz="2400">
                  <a:solidFill>
                    <a:srgbClr val="F2F2F2"/>
                  </a:solidFill>
                  <a:latin typeface="Be Vietnam"/>
                  <a:ea typeface="Be Vietnam"/>
                  <a:cs typeface="Be Vietnam"/>
                  <a:sym typeface="Be Vietnam"/>
                </a:rPr>
                <a:t>Integration with medical curriculum</a:t>
              </a:r>
            </a:p>
          </p:txBody>
        </p:sp>
      </p:grpSp>
      <p:grpSp>
        <p:nvGrpSpPr>
          <p:cNvPr id="19" name="Group 19"/>
          <p:cNvGrpSpPr/>
          <p:nvPr/>
        </p:nvGrpSpPr>
        <p:grpSpPr>
          <a:xfrm>
            <a:off x="5949222" y="3027484"/>
            <a:ext cx="3281789" cy="633704"/>
            <a:chOff x="0" y="0"/>
            <a:chExt cx="4375719" cy="844939"/>
          </a:xfrm>
        </p:grpSpPr>
        <p:grpSp>
          <p:nvGrpSpPr>
            <p:cNvPr id="20" name="Group 20"/>
            <p:cNvGrpSpPr/>
            <p:nvPr/>
          </p:nvGrpSpPr>
          <p:grpSpPr>
            <a:xfrm>
              <a:off x="0" y="0"/>
              <a:ext cx="3971925" cy="844939"/>
              <a:chOff x="0" y="0"/>
              <a:chExt cx="784578" cy="166901"/>
            </a:xfrm>
          </p:grpSpPr>
          <p:sp>
            <p:nvSpPr>
              <p:cNvPr id="21" name="Freeform 21"/>
              <p:cNvSpPr/>
              <p:nvPr/>
            </p:nvSpPr>
            <p:spPr>
              <a:xfrm>
                <a:off x="0" y="0"/>
                <a:ext cx="784578" cy="166901"/>
              </a:xfrm>
              <a:custGeom>
                <a:avLst/>
                <a:gdLst/>
                <a:ahLst/>
                <a:cxnLst/>
                <a:rect l="l" t="t" r="r" b="b"/>
                <a:pathLst>
                  <a:path w="784578" h="166901">
                    <a:moveTo>
                      <a:pt x="25989" y="0"/>
                    </a:moveTo>
                    <a:lnTo>
                      <a:pt x="758589" y="0"/>
                    </a:lnTo>
                    <a:cubicBezTo>
                      <a:pt x="765482" y="0"/>
                      <a:pt x="772092" y="2738"/>
                      <a:pt x="776966" y="7612"/>
                    </a:cubicBezTo>
                    <a:cubicBezTo>
                      <a:pt x="781840" y="12486"/>
                      <a:pt x="784578" y="19096"/>
                      <a:pt x="784578" y="25989"/>
                    </a:cubicBezTo>
                    <a:lnTo>
                      <a:pt x="784578" y="140913"/>
                    </a:lnTo>
                    <a:cubicBezTo>
                      <a:pt x="784578" y="155266"/>
                      <a:pt x="772942" y="166901"/>
                      <a:pt x="758589" y="166901"/>
                    </a:cubicBezTo>
                    <a:lnTo>
                      <a:pt x="25989" y="166901"/>
                    </a:lnTo>
                    <a:cubicBezTo>
                      <a:pt x="19096" y="166901"/>
                      <a:pt x="12486" y="164163"/>
                      <a:pt x="7612" y="159289"/>
                    </a:cubicBezTo>
                    <a:cubicBezTo>
                      <a:pt x="2738" y="154416"/>
                      <a:pt x="0" y="147805"/>
                      <a:pt x="0" y="140913"/>
                    </a:cubicBezTo>
                    <a:lnTo>
                      <a:pt x="0" y="25989"/>
                    </a:lnTo>
                    <a:cubicBezTo>
                      <a:pt x="0" y="19096"/>
                      <a:pt x="2738" y="12486"/>
                      <a:pt x="7612" y="7612"/>
                    </a:cubicBezTo>
                    <a:cubicBezTo>
                      <a:pt x="12486" y="2738"/>
                      <a:pt x="19096" y="0"/>
                      <a:pt x="25989" y="0"/>
                    </a:cubicBezTo>
                    <a:close/>
                  </a:path>
                </a:pathLst>
              </a:custGeom>
              <a:solidFill>
                <a:srgbClr val="383686"/>
              </a:solidFill>
            </p:spPr>
            <p:txBody>
              <a:bodyPr/>
              <a:lstStyle/>
              <a:p>
                <a:endParaRPr lang="en-US"/>
              </a:p>
            </p:txBody>
          </p:sp>
          <p:sp>
            <p:nvSpPr>
              <p:cNvPr id="22" name="TextBox 22"/>
              <p:cNvSpPr txBox="1"/>
              <p:nvPr/>
            </p:nvSpPr>
            <p:spPr>
              <a:xfrm>
                <a:off x="0" y="-28575"/>
                <a:ext cx="784578" cy="195476"/>
              </a:xfrm>
              <a:prstGeom prst="rect">
                <a:avLst/>
              </a:prstGeom>
            </p:spPr>
            <p:txBody>
              <a:bodyPr lIns="50800" tIns="50800" rIns="50800" bIns="50800" rtlCol="0" anchor="ctr"/>
              <a:lstStyle/>
              <a:p>
                <a:pPr algn="l">
                  <a:lnSpc>
                    <a:spcPts val="2659"/>
                  </a:lnSpc>
                </a:pPr>
                <a:endParaRPr/>
              </a:p>
            </p:txBody>
          </p:sp>
        </p:grpSp>
        <p:sp>
          <p:nvSpPr>
            <p:cNvPr id="23" name="TextBox 23"/>
            <p:cNvSpPr txBox="1"/>
            <p:nvPr/>
          </p:nvSpPr>
          <p:spPr>
            <a:xfrm>
              <a:off x="245498" y="89427"/>
              <a:ext cx="4130221" cy="525145"/>
            </a:xfrm>
            <a:prstGeom prst="rect">
              <a:avLst/>
            </a:prstGeom>
          </p:spPr>
          <p:txBody>
            <a:bodyPr lIns="0" tIns="0" rIns="0" bIns="0" rtlCol="0" anchor="t">
              <a:spAutoFit/>
            </a:bodyPr>
            <a:lstStyle/>
            <a:p>
              <a:pPr algn="l">
                <a:lnSpc>
                  <a:spcPts val="3359"/>
                </a:lnSpc>
              </a:pPr>
              <a:r>
                <a:rPr lang="en-US" sz="2400">
                  <a:solidFill>
                    <a:srgbClr val="F2F2F2"/>
                  </a:solidFill>
                  <a:latin typeface="Be Vietnam"/>
                  <a:ea typeface="Be Vietnam"/>
                  <a:cs typeface="Be Vietnam"/>
                  <a:sym typeface="Be Vietnam"/>
                </a:rPr>
                <a:t>AI-based tutoring</a:t>
              </a:r>
            </a:p>
          </p:txBody>
        </p:sp>
      </p:grpSp>
      <p:sp>
        <p:nvSpPr>
          <p:cNvPr id="24" name="Freeform 24"/>
          <p:cNvSpPr/>
          <p:nvPr/>
        </p:nvSpPr>
        <p:spPr>
          <a:xfrm rot="4874921">
            <a:off x="10954737" y="3025168"/>
            <a:ext cx="3467398" cy="290001"/>
          </a:xfrm>
          <a:custGeom>
            <a:avLst/>
            <a:gdLst/>
            <a:ahLst/>
            <a:cxnLst/>
            <a:rect l="l" t="t" r="r" b="b"/>
            <a:pathLst>
              <a:path w="3467398" h="290001">
                <a:moveTo>
                  <a:pt x="0" y="0"/>
                </a:moveTo>
                <a:lnTo>
                  <a:pt x="3467398" y="0"/>
                </a:lnTo>
                <a:lnTo>
                  <a:pt x="3467398" y="290000"/>
                </a:lnTo>
                <a:lnTo>
                  <a:pt x="0" y="29000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5" name="TextBox 25"/>
          <p:cNvSpPr txBox="1"/>
          <p:nvPr/>
        </p:nvSpPr>
        <p:spPr>
          <a:xfrm>
            <a:off x="7650526" y="531495"/>
            <a:ext cx="8423445" cy="1137285"/>
          </a:xfrm>
          <a:prstGeom prst="rect">
            <a:avLst/>
          </a:prstGeom>
        </p:spPr>
        <p:txBody>
          <a:bodyPr lIns="0" tIns="0" rIns="0" bIns="0" rtlCol="0" anchor="t">
            <a:spAutoFit/>
          </a:bodyPr>
          <a:lstStyle/>
          <a:p>
            <a:pPr algn="l">
              <a:lnSpc>
                <a:spcPts val="8400"/>
              </a:lnSpc>
            </a:pPr>
            <a:r>
              <a:rPr lang="en-US" sz="8400" b="1" spc="-210">
                <a:solidFill>
                  <a:srgbClr val="262626"/>
                </a:solidFill>
                <a:latin typeface="Public Sans Heavy"/>
                <a:ea typeface="Public Sans Heavy"/>
                <a:cs typeface="Public Sans Heavy"/>
                <a:sym typeface="Public Sans Heavy"/>
              </a:rPr>
              <a:t>FUTURE SCOPE</a:t>
            </a:r>
          </a:p>
        </p:txBody>
      </p:sp>
      <p:sp>
        <p:nvSpPr>
          <p:cNvPr id="26" name="Freeform 26"/>
          <p:cNvSpPr/>
          <p:nvPr/>
        </p:nvSpPr>
        <p:spPr>
          <a:xfrm rot="8100000">
            <a:off x="8729537" y="2346310"/>
            <a:ext cx="2671271" cy="223415"/>
          </a:xfrm>
          <a:custGeom>
            <a:avLst/>
            <a:gdLst/>
            <a:ahLst/>
            <a:cxnLst/>
            <a:rect l="l" t="t" r="r" b="b"/>
            <a:pathLst>
              <a:path w="2671271" h="223415">
                <a:moveTo>
                  <a:pt x="0" y="0"/>
                </a:moveTo>
                <a:lnTo>
                  <a:pt x="2671270" y="0"/>
                </a:lnTo>
                <a:lnTo>
                  <a:pt x="2671270" y="223415"/>
                </a:lnTo>
                <a:lnTo>
                  <a:pt x="0" y="22341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7" name="Freeform 27"/>
          <p:cNvSpPr/>
          <p:nvPr/>
        </p:nvSpPr>
        <p:spPr>
          <a:xfrm rot="6818323">
            <a:off x="9824543" y="2628860"/>
            <a:ext cx="2758154" cy="230682"/>
          </a:xfrm>
          <a:custGeom>
            <a:avLst/>
            <a:gdLst/>
            <a:ahLst/>
            <a:cxnLst/>
            <a:rect l="l" t="t" r="r" b="b"/>
            <a:pathLst>
              <a:path w="2758154" h="230682">
                <a:moveTo>
                  <a:pt x="0" y="0"/>
                </a:moveTo>
                <a:lnTo>
                  <a:pt x="2758154" y="0"/>
                </a:lnTo>
                <a:lnTo>
                  <a:pt x="2758154" y="230681"/>
                </a:lnTo>
                <a:lnTo>
                  <a:pt x="0" y="2306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28" name="Group 28"/>
          <p:cNvGrpSpPr/>
          <p:nvPr/>
        </p:nvGrpSpPr>
        <p:grpSpPr>
          <a:xfrm>
            <a:off x="14837228" y="9258300"/>
            <a:ext cx="2887313" cy="802001"/>
            <a:chOff x="0" y="0"/>
            <a:chExt cx="3849751" cy="1069334"/>
          </a:xfrm>
        </p:grpSpPr>
        <p:grpSp>
          <p:nvGrpSpPr>
            <p:cNvPr id="29" name="Group 29"/>
            <p:cNvGrpSpPr/>
            <p:nvPr/>
          </p:nvGrpSpPr>
          <p:grpSpPr>
            <a:xfrm>
              <a:off x="0" y="0"/>
              <a:ext cx="3849751" cy="1069334"/>
              <a:chOff x="0" y="0"/>
              <a:chExt cx="1033028" cy="286941"/>
            </a:xfrm>
          </p:grpSpPr>
          <p:sp>
            <p:nvSpPr>
              <p:cNvPr id="30" name="Freeform 30"/>
              <p:cNvSpPr/>
              <p:nvPr/>
            </p:nvSpPr>
            <p:spPr>
              <a:xfrm>
                <a:off x="0" y="0"/>
                <a:ext cx="1033028" cy="286941"/>
              </a:xfrm>
              <a:custGeom>
                <a:avLst/>
                <a:gdLst/>
                <a:ahLst/>
                <a:cxnLst/>
                <a:rect l="l" t="t" r="r" b="b"/>
                <a:pathLst>
                  <a:path w="1033028" h="286941">
                    <a:moveTo>
                      <a:pt x="50946" y="0"/>
                    </a:moveTo>
                    <a:lnTo>
                      <a:pt x="982082" y="0"/>
                    </a:lnTo>
                    <a:cubicBezTo>
                      <a:pt x="995593" y="0"/>
                      <a:pt x="1008552" y="5367"/>
                      <a:pt x="1018106" y="14922"/>
                    </a:cubicBezTo>
                    <a:cubicBezTo>
                      <a:pt x="1027660" y="24476"/>
                      <a:pt x="1033028" y="37434"/>
                      <a:pt x="1033028" y="50946"/>
                    </a:cubicBezTo>
                    <a:lnTo>
                      <a:pt x="1033028" y="235995"/>
                    </a:lnTo>
                    <a:cubicBezTo>
                      <a:pt x="1033028" y="249507"/>
                      <a:pt x="1027660" y="262465"/>
                      <a:pt x="1018106" y="272019"/>
                    </a:cubicBezTo>
                    <a:cubicBezTo>
                      <a:pt x="1008552" y="281574"/>
                      <a:pt x="995593" y="286941"/>
                      <a:pt x="982082" y="286941"/>
                    </a:cubicBezTo>
                    <a:lnTo>
                      <a:pt x="50946" y="286941"/>
                    </a:lnTo>
                    <a:cubicBezTo>
                      <a:pt x="22809" y="286941"/>
                      <a:pt x="0" y="264132"/>
                      <a:pt x="0" y="235995"/>
                    </a:cubicBezTo>
                    <a:lnTo>
                      <a:pt x="0" y="50946"/>
                    </a:lnTo>
                    <a:cubicBezTo>
                      <a:pt x="0" y="37434"/>
                      <a:pt x="5367" y="24476"/>
                      <a:pt x="14922" y="14922"/>
                    </a:cubicBezTo>
                    <a:cubicBezTo>
                      <a:pt x="24476" y="5367"/>
                      <a:pt x="37434" y="0"/>
                      <a:pt x="50946" y="0"/>
                    </a:cubicBezTo>
                    <a:close/>
                  </a:path>
                </a:pathLst>
              </a:custGeom>
              <a:solidFill>
                <a:srgbClr val="031D79"/>
              </a:solidFill>
            </p:spPr>
            <p:txBody>
              <a:bodyPr/>
              <a:lstStyle/>
              <a:p>
                <a:endParaRPr lang="en-US"/>
              </a:p>
            </p:txBody>
          </p:sp>
          <p:sp>
            <p:nvSpPr>
              <p:cNvPr id="31" name="TextBox 31"/>
              <p:cNvSpPr txBox="1"/>
              <p:nvPr/>
            </p:nvSpPr>
            <p:spPr>
              <a:xfrm>
                <a:off x="0" y="-38100"/>
                <a:ext cx="1033028" cy="325041"/>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a:off x="2772734" y="0"/>
              <a:ext cx="1077017" cy="1069334"/>
              <a:chOff x="0" y="0"/>
              <a:chExt cx="289003" cy="286941"/>
            </a:xfrm>
          </p:grpSpPr>
          <p:sp>
            <p:nvSpPr>
              <p:cNvPr id="33" name="Freeform 33"/>
              <p:cNvSpPr/>
              <p:nvPr/>
            </p:nvSpPr>
            <p:spPr>
              <a:xfrm>
                <a:off x="0" y="0"/>
                <a:ext cx="289003" cy="286941"/>
              </a:xfrm>
              <a:custGeom>
                <a:avLst/>
                <a:gdLst/>
                <a:ahLst/>
                <a:cxnLst/>
                <a:rect l="l" t="t" r="r" b="b"/>
                <a:pathLst>
                  <a:path w="289003" h="286941">
                    <a:moveTo>
                      <a:pt x="143471" y="0"/>
                    </a:moveTo>
                    <a:lnTo>
                      <a:pt x="145532" y="0"/>
                    </a:lnTo>
                    <a:cubicBezTo>
                      <a:pt x="183583" y="0"/>
                      <a:pt x="220075" y="15116"/>
                      <a:pt x="246981" y="42022"/>
                    </a:cubicBezTo>
                    <a:cubicBezTo>
                      <a:pt x="273887" y="68928"/>
                      <a:pt x="289003" y="105420"/>
                      <a:pt x="289003" y="143471"/>
                    </a:cubicBezTo>
                    <a:lnTo>
                      <a:pt x="289003" y="143471"/>
                    </a:lnTo>
                    <a:cubicBezTo>
                      <a:pt x="289003" y="181521"/>
                      <a:pt x="273887" y="218014"/>
                      <a:pt x="246981" y="244920"/>
                    </a:cubicBezTo>
                    <a:cubicBezTo>
                      <a:pt x="220075" y="271826"/>
                      <a:pt x="183583" y="286941"/>
                      <a:pt x="145532" y="286941"/>
                    </a:cubicBezTo>
                    <a:lnTo>
                      <a:pt x="143471" y="286941"/>
                    </a:lnTo>
                    <a:cubicBezTo>
                      <a:pt x="105420" y="286941"/>
                      <a:pt x="68928" y="271826"/>
                      <a:pt x="42022" y="244920"/>
                    </a:cubicBezTo>
                    <a:cubicBezTo>
                      <a:pt x="15116" y="218014"/>
                      <a:pt x="0" y="181521"/>
                      <a:pt x="0" y="143471"/>
                    </a:cubicBezTo>
                    <a:lnTo>
                      <a:pt x="0" y="143471"/>
                    </a:lnTo>
                    <a:cubicBezTo>
                      <a:pt x="0" y="105420"/>
                      <a:pt x="15116" y="68928"/>
                      <a:pt x="42022" y="42022"/>
                    </a:cubicBezTo>
                    <a:cubicBezTo>
                      <a:pt x="68928" y="15116"/>
                      <a:pt x="105420" y="0"/>
                      <a:pt x="143471" y="0"/>
                    </a:cubicBezTo>
                    <a:close/>
                  </a:path>
                </a:pathLst>
              </a:custGeom>
              <a:solidFill>
                <a:srgbClr val="FFFFFF"/>
              </a:solidFill>
            </p:spPr>
            <p:txBody>
              <a:bodyPr/>
              <a:lstStyle/>
              <a:p>
                <a:endParaRPr lang="en-US"/>
              </a:p>
            </p:txBody>
          </p:sp>
          <p:sp>
            <p:nvSpPr>
              <p:cNvPr id="34" name="TextBox 34"/>
              <p:cNvSpPr txBox="1"/>
              <p:nvPr/>
            </p:nvSpPr>
            <p:spPr>
              <a:xfrm>
                <a:off x="0" y="-38100"/>
                <a:ext cx="289003" cy="325041"/>
              </a:xfrm>
              <a:prstGeom prst="rect">
                <a:avLst/>
              </a:prstGeom>
            </p:spPr>
            <p:txBody>
              <a:bodyPr lIns="50800" tIns="50800" rIns="50800" bIns="50800" rtlCol="0" anchor="ctr"/>
              <a:lstStyle/>
              <a:p>
                <a:pPr algn="ctr">
                  <a:lnSpc>
                    <a:spcPts val="2659"/>
                  </a:lnSpc>
                </a:pPr>
                <a:endParaRPr/>
              </a:p>
            </p:txBody>
          </p:sp>
        </p:grpSp>
        <p:sp>
          <p:nvSpPr>
            <p:cNvPr id="35" name="Freeform 35"/>
            <p:cNvSpPr/>
            <p:nvPr/>
          </p:nvSpPr>
          <p:spPr>
            <a:xfrm rot="-5400000">
              <a:off x="3046147" y="293781"/>
              <a:ext cx="366566" cy="495359"/>
            </a:xfrm>
            <a:custGeom>
              <a:avLst/>
              <a:gdLst/>
              <a:ahLst/>
              <a:cxnLst/>
              <a:rect l="l" t="t" r="r" b="b"/>
              <a:pathLst>
                <a:path w="366566" h="495359">
                  <a:moveTo>
                    <a:pt x="0" y="0"/>
                  </a:moveTo>
                  <a:lnTo>
                    <a:pt x="366566" y="0"/>
                  </a:lnTo>
                  <a:lnTo>
                    <a:pt x="366566" y="495360"/>
                  </a:lnTo>
                  <a:lnTo>
                    <a:pt x="0" y="49536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6" name="TextBox 36"/>
            <p:cNvSpPr txBox="1"/>
            <p:nvPr/>
          </p:nvSpPr>
          <p:spPr>
            <a:xfrm>
              <a:off x="544955" y="322809"/>
              <a:ext cx="1627629" cy="408728"/>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Be Vietnam"/>
                  <a:ea typeface="Be Vietnam"/>
                  <a:cs typeface="Be Vietnam"/>
                  <a:sym typeface="Be Vietnam"/>
                </a:rPr>
                <a:t>Next Slide </a:t>
              </a:r>
            </a:p>
          </p:txBody>
        </p:sp>
      </p:grpSp>
      <p:sp>
        <p:nvSpPr>
          <p:cNvPr id="37" name="TextBox 37"/>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2F2F2"/>
        </a:solidFill>
        <a:effectLst/>
      </p:bgPr>
    </p:bg>
    <p:spTree>
      <p:nvGrpSpPr>
        <p:cNvPr id="1" name=""/>
        <p:cNvGrpSpPr/>
        <p:nvPr/>
      </p:nvGrpSpPr>
      <p:grpSpPr>
        <a:xfrm>
          <a:off x="0" y="0"/>
          <a:ext cx="0" cy="0"/>
          <a:chOff x="0" y="0"/>
          <a:chExt cx="0" cy="0"/>
        </a:xfrm>
      </p:grpSpPr>
      <p:sp>
        <p:nvSpPr>
          <p:cNvPr id="2" name="TextBox 2"/>
          <p:cNvSpPr txBox="1"/>
          <p:nvPr/>
        </p:nvSpPr>
        <p:spPr>
          <a:xfrm>
            <a:off x="1657763" y="5571974"/>
            <a:ext cx="8784952" cy="1402547"/>
          </a:xfrm>
          <a:prstGeom prst="rect">
            <a:avLst/>
          </a:prstGeom>
        </p:spPr>
        <p:txBody>
          <a:bodyPr lIns="0" tIns="0" rIns="0" bIns="0" rtlCol="0" anchor="t">
            <a:spAutoFit/>
          </a:bodyPr>
          <a:lstStyle/>
          <a:p>
            <a:pPr algn="r">
              <a:lnSpc>
                <a:spcPts val="10453"/>
              </a:lnSpc>
            </a:pPr>
            <a:r>
              <a:rPr lang="en-US" sz="10453" b="1" spc="-261">
                <a:solidFill>
                  <a:srgbClr val="FFFFFF">
                    <a:alpha val="13725"/>
                  </a:srgbClr>
                </a:solidFill>
                <a:latin typeface="Public Sans Heavy"/>
                <a:ea typeface="Public Sans Heavy"/>
                <a:cs typeface="Public Sans Heavy"/>
                <a:sym typeface="Public Sans Heavy"/>
              </a:rPr>
              <a:t>THANK YOU</a:t>
            </a:r>
          </a:p>
        </p:txBody>
      </p:sp>
      <p:grpSp>
        <p:nvGrpSpPr>
          <p:cNvPr id="3" name="Group 3"/>
          <p:cNvGrpSpPr/>
          <p:nvPr/>
        </p:nvGrpSpPr>
        <p:grpSpPr>
          <a:xfrm>
            <a:off x="188036" y="216248"/>
            <a:ext cx="9854503" cy="9854503"/>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FFFFFF"/>
              </a:solidFill>
              <a:prstDash val="solid"/>
              <a:miter/>
            </a:ln>
          </p:spPr>
          <p:txBody>
            <a:bodyPr/>
            <a:lstStyle/>
            <a:p>
              <a:endParaRPr lang="en-US"/>
            </a:p>
          </p:txBody>
        </p:sp>
        <p:sp>
          <p:nvSpPr>
            <p:cNvPr id="5" name="TextBox 5"/>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632466" y="660678"/>
            <a:ext cx="8965644" cy="8965644"/>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47625"/>
              <a:ext cx="660400" cy="688975"/>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3116120" y="1513222"/>
            <a:ext cx="3998335" cy="7260555"/>
          </a:xfrm>
          <a:custGeom>
            <a:avLst/>
            <a:gdLst/>
            <a:ahLst/>
            <a:cxnLst/>
            <a:rect l="l" t="t" r="r" b="b"/>
            <a:pathLst>
              <a:path w="3998335" h="7260555">
                <a:moveTo>
                  <a:pt x="3998335" y="0"/>
                </a:moveTo>
                <a:lnTo>
                  <a:pt x="0" y="0"/>
                </a:lnTo>
                <a:lnTo>
                  <a:pt x="0" y="7260556"/>
                </a:lnTo>
                <a:lnTo>
                  <a:pt x="3998335" y="7260556"/>
                </a:lnTo>
                <a:lnTo>
                  <a:pt x="3998335" y="0"/>
                </a:lnTo>
                <a:close/>
              </a:path>
            </a:pathLst>
          </a:custGeom>
          <a:blipFill>
            <a:blip>
              <a:extLst>
                <a:ext uri="{96DAC541-7B7A-43D3-8B79-37D633B846F1}">
                  <asvg:svgBlip xmlns:asvg="http://schemas.microsoft.com/office/drawing/2016/SVG/main" r:embed="rId2"/>
                </a:ext>
              </a:extLst>
            </a:blip>
            <a:stretch>
              <a:fillRect l="-96602"/>
            </a:stretch>
          </a:blipFill>
        </p:spPr>
        <p:txBody>
          <a:bodyPr/>
          <a:lstStyle/>
          <a:p>
            <a:endParaRPr lang="en-US"/>
          </a:p>
        </p:txBody>
      </p:sp>
      <p:sp>
        <p:nvSpPr>
          <p:cNvPr id="10" name="TextBox 10"/>
          <p:cNvSpPr txBox="1"/>
          <p:nvPr/>
        </p:nvSpPr>
        <p:spPr>
          <a:xfrm>
            <a:off x="-1652778" y="8652276"/>
            <a:ext cx="8784952" cy="1402547"/>
          </a:xfrm>
          <a:prstGeom prst="rect">
            <a:avLst/>
          </a:prstGeom>
        </p:spPr>
        <p:txBody>
          <a:bodyPr lIns="0" tIns="0" rIns="0" bIns="0" rtlCol="0" anchor="t">
            <a:spAutoFit/>
          </a:bodyPr>
          <a:lstStyle/>
          <a:p>
            <a:pPr algn="r">
              <a:lnSpc>
                <a:spcPts val="10453"/>
              </a:lnSpc>
            </a:pPr>
            <a:r>
              <a:rPr lang="en-US" sz="10453" b="1" spc="-261">
                <a:solidFill>
                  <a:srgbClr val="FFFFFF">
                    <a:alpha val="21961"/>
                  </a:srgbClr>
                </a:solidFill>
                <a:latin typeface="Public Sans Heavy"/>
                <a:ea typeface="Public Sans Heavy"/>
                <a:cs typeface="Public Sans Heavy"/>
                <a:sym typeface="Public Sans Heavy"/>
              </a:rPr>
              <a:t>THANK YOU</a:t>
            </a:r>
          </a:p>
        </p:txBody>
      </p:sp>
      <p:sp>
        <p:nvSpPr>
          <p:cNvPr id="11" name="TextBox 11"/>
          <p:cNvSpPr txBox="1"/>
          <p:nvPr/>
        </p:nvSpPr>
        <p:spPr>
          <a:xfrm>
            <a:off x="9813715" y="5524349"/>
            <a:ext cx="7418815" cy="1137285"/>
          </a:xfrm>
          <a:prstGeom prst="rect">
            <a:avLst/>
          </a:prstGeom>
        </p:spPr>
        <p:txBody>
          <a:bodyPr lIns="0" tIns="0" rIns="0" bIns="0" rtlCol="0" anchor="t">
            <a:spAutoFit/>
          </a:bodyPr>
          <a:lstStyle/>
          <a:p>
            <a:pPr marL="0" lvl="0" indent="0" algn="l">
              <a:lnSpc>
                <a:spcPts val="8400"/>
              </a:lnSpc>
              <a:spcBef>
                <a:spcPct val="0"/>
              </a:spcBef>
            </a:pPr>
            <a:r>
              <a:rPr lang="en-US" sz="8400" b="1" spc="-210">
                <a:solidFill>
                  <a:srgbClr val="262626"/>
                </a:solidFill>
                <a:latin typeface="Public Sans Heavy"/>
                <a:ea typeface="Public Sans Heavy"/>
                <a:cs typeface="Public Sans Heavy"/>
                <a:sym typeface="Public Sans Heavy"/>
              </a:rPr>
              <a:t>“THANK YOU”</a:t>
            </a:r>
          </a:p>
        </p:txBody>
      </p:sp>
      <p:sp>
        <p:nvSpPr>
          <p:cNvPr id="12" name="TextBox 12"/>
          <p:cNvSpPr txBox="1"/>
          <p:nvPr/>
        </p:nvSpPr>
        <p:spPr>
          <a:xfrm>
            <a:off x="8447579" y="1703722"/>
            <a:ext cx="8784952" cy="1402547"/>
          </a:xfrm>
          <a:prstGeom prst="rect">
            <a:avLst/>
          </a:prstGeom>
        </p:spPr>
        <p:txBody>
          <a:bodyPr lIns="0" tIns="0" rIns="0" bIns="0" rtlCol="0" anchor="t">
            <a:spAutoFit/>
          </a:bodyPr>
          <a:lstStyle/>
          <a:p>
            <a:pPr algn="r">
              <a:lnSpc>
                <a:spcPts val="10453"/>
              </a:lnSpc>
            </a:pPr>
            <a:r>
              <a:rPr lang="en-US" sz="10453" b="1" spc="-261">
                <a:solidFill>
                  <a:srgbClr val="FFFFFF">
                    <a:alpha val="17647"/>
                  </a:srgbClr>
                </a:solidFill>
                <a:latin typeface="Public Sans Heavy"/>
                <a:ea typeface="Public Sans Heavy"/>
                <a:cs typeface="Public Sans Heavy"/>
                <a:sym typeface="Public Sans Heavy"/>
              </a:rPr>
              <a:t>THANK YOU</a:t>
            </a:r>
          </a:p>
        </p:txBody>
      </p:sp>
      <p:sp>
        <p:nvSpPr>
          <p:cNvPr id="13" name="TextBox 13"/>
          <p:cNvSpPr txBox="1"/>
          <p:nvPr/>
        </p:nvSpPr>
        <p:spPr>
          <a:xfrm>
            <a:off x="9144000" y="8223775"/>
            <a:ext cx="8784952" cy="1402547"/>
          </a:xfrm>
          <a:prstGeom prst="rect">
            <a:avLst/>
          </a:prstGeom>
        </p:spPr>
        <p:txBody>
          <a:bodyPr lIns="0" tIns="0" rIns="0" bIns="0" rtlCol="0" anchor="t">
            <a:spAutoFit/>
          </a:bodyPr>
          <a:lstStyle/>
          <a:p>
            <a:pPr algn="r">
              <a:lnSpc>
                <a:spcPts val="10453"/>
              </a:lnSpc>
            </a:pPr>
            <a:r>
              <a:rPr lang="en-US" sz="10453" b="1" spc="-261">
                <a:solidFill>
                  <a:srgbClr val="FFFFFF">
                    <a:alpha val="21961"/>
                  </a:srgbClr>
                </a:solidFill>
                <a:latin typeface="Public Sans Heavy"/>
                <a:ea typeface="Public Sans Heavy"/>
                <a:cs typeface="Public Sans Heavy"/>
                <a:sym typeface="Public Sans Heavy"/>
              </a:rPr>
              <a:t>THANK YOU</a:t>
            </a:r>
          </a:p>
        </p:txBody>
      </p:sp>
      <p:sp>
        <p:nvSpPr>
          <p:cNvPr id="14" name="TextBox 14"/>
          <p:cNvSpPr txBox="1"/>
          <p:nvPr/>
        </p:nvSpPr>
        <p:spPr>
          <a:xfrm>
            <a:off x="-337373" y="422676"/>
            <a:ext cx="8784952" cy="1402547"/>
          </a:xfrm>
          <a:prstGeom prst="rect">
            <a:avLst/>
          </a:prstGeom>
        </p:spPr>
        <p:txBody>
          <a:bodyPr lIns="0" tIns="0" rIns="0" bIns="0" rtlCol="0" anchor="t">
            <a:spAutoFit/>
          </a:bodyPr>
          <a:lstStyle/>
          <a:p>
            <a:pPr algn="r">
              <a:lnSpc>
                <a:spcPts val="10453"/>
              </a:lnSpc>
            </a:pPr>
            <a:r>
              <a:rPr lang="en-US" sz="10453" b="1" spc="-261">
                <a:solidFill>
                  <a:srgbClr val="FFFFFF">
                    <a:alpha val="22745"/>
                  </a:srgbClr>
                </a:solidFill>
                <a:latin typeface="Public Sans Heavy"/>
                <a:ea typeface="Public Sans Heavy"/>
                <a:cs typeface="Public Sans Heavy"/>
                <a:sym typeface="Public Sans Heavy"/>
              </a:rPr>
              <a:t>THANK YOU</a:t>
            </a:r>
          </a:p>
        </p:txBody>
      </p:sp>
      <p:grpSp>
        <p:nvGrpSpPr>
          <p:cNvPr id="15" name="Group 15"/>
          <p:cNvGrpSpPr/>
          <p:nvPr/>
        </p:nvGrpSpPr>
        <p:grpSpPr>
          <a:xfrm rot="-280498">
            <a:off x="14972176" y="-2412919"/>
            <a:ext cx="5913552" cy="5290190"/>
            <a:chOff x="0" y="0"/>
            <a:chExt cx="812800" cy="727121"/>
          </a:xfrm>
        </p:grpSpPr>
        <p:sp>
          <p:nvSpPr>
            <p:cNvPr id="16" name="Freeform 16"/>
            <p:cNvSpPr/>
            <p:nvPr/>
          </p:nvSpPr>
          <p:spPr>
            <a:xfrm>
              <a:off x="0" y="0"/>
              <a:ext cx="812800" cy="727121"/>
            </a:xfrm>
            <a:custGeom>
              <a:avLst/>
              <a:gdLst/>
              <a:ahLst/>
              <a:cxnLst/>
              <a:rect l="l" t="t" r="r" b="b"/>
              <a:pathLst>
                <a:path w="812800" h="727121">
                  <a:moveTo>
                    <a:pt x="406400" y="0"/>
                  </a:moveTo>
                  <a:cubicBezTo>
                    <a:pt x="181951" y="0"/>
                    <a:pt x="0" y="162772"/>
                    <a:pt x="0" y="363560"/>
                  </a:cubicBezTo>
                  <a:cubicBezTo>
                    <a:pt x="0" y="564349"/>
                    <a:pt x="181951" y="727121"/>
                    <a:pt x="406400" y="727121"/>
                  </a:cubicBezTo>
                  <a:cubicBezTo>
                    <a:pt x="630849" y="727121"/>
                    <a:pt x="812800" y="564349"/>
                    <a:pt x="812800" y="363560"/>
                  </a:cubicBezTo>
                  <a:cubicBezTo>
                    <a:pt x="812800" y="162772"/>
                    <a:pt x="630849" y="0"/>
                    <a:pt x="406400" y="0"/>
                  </a:cubicBezTo>
                  <a:close/>
                </a:path>
              </a:pathLst>
            </a:custGeom>
            <a:ln w="781050" cap="sq">
              <a:gradFill>
                <a:gsLst>
                  <a:gs pos="0">
                    <a:srgbClr val="83006A">
                      <a:alpha val="100000"/>
                    </a:srgbClr>
                  </a:gs>
                  <a:gs pos="100000">
                    <a:srgbClr val="00E8FF">
                      <a:alpha val="100000"/>
                    </a:srgbClr>
                  </a:gs>
                </a:gsLst>
                <a:lin ang="0"/>
              </a:gradFill>
              <a:prstDash val="solid"/>
              <a:miter/>
            </a:ln>
          </p:spPr>
          <p:txBody>
            <a:bodyPr/>
            <a:lstStyle/>
            <a:p>
              <a:endParaRPr lang="en-US"/>
            </a:p>
          </p:txBody>
        </p:sp>
        <p:sp>
          <p:nvSpPr>
            <p:cNvPr id="17" name="TextBox 17"/>
            <p:cNvSpPr txBox="1"/>
            <p:nvPr/>
          </p:nvSpPr>
          <p:spPr>
            <a:xfrm>
              <a:off x="76200" y="30068"/>
              <a:ext cx="660400" cy="628886"/>
            </a:xfrm>
            <a:prstGeom prst="rect">
              <a:avLst/>
            </a:prstGeom>
          </p:spPr>
          <p:txBody>
            <a:bodyPr lIns="50800" tIns="50800" rIns="50800" bIns="50800" rtlCol="0" anchor="ctr"/>
            <a:lstStyle/>
            <a:p>
              <a:pPr algn="ctr">
                <a:lnSpc>
                  <a:spcPts val="2520"/>
                </a:lnSpc>
              </a:pPr>
              <a:endParaRPr/>
            </a:p>
          </p:txBody>
        </p:sp>
      </p:grpSp>
      <p:grpSp>
        <p:nvGrpSpPr>
          <p:cNvPr id="18" name="Group 18"/>
          <p:cNvGrpSpPr/>
          <p:nvPr/>
        </p:nvGrpSpPr>
        <p:grpSpPr>
          <a:xfrm>
            <a:off x="3342530" y="-359563"/>
            <a:ext cx="14200368" cy="5338617"/>
            <a:chOff x="0" y="0"/>
            <a:chExt cx="18933824" cy="7118156"/>
          </a:xfrm>
        </p:grpSpPr>
        <p:sp>
          <p:nvSpPr>
            <p:cNvPr id="19" name="TextBox 19"/>
            <p:cNvSpPr txBox="1"/>
            <p:nvPr/>
          </p:nvSpPr>
          <p:spPr>
            <a:xfrm>
              <a:off x="0" y="276225"/>
              <a:ext cx="11952866" cy="2878846"/>
            </a:xfrm>
            <a:prstGeom prst="rect">
              <a:avLst/>
            </a:prstGeom>
          </p:spPr>
          <p:txBody>
            <a:bodyPr lIns="0" tIns="0" rIns="0" bIns="0" rtlCol="0" anchor="t">
              <a:spAutoFit/>
            </a:bodyPr>
            <a:lstStyle/>
            <a:p>
              <a:pPr algn="r">
                <a:lnSpc>
                  <a:spcPts val="15536"/>
                </a:lnSpc>
              </a:pPr>
              <a:r>
                <a:rPr lang="en-US" sz="15536" b="1" spc="-388">
                  <a:solidFill>
                    <a:srgbClr val="CCC9C9">
                      <a:alpha val="11373"/>
                    </a:srgbClr>
                  </a:solidFill>
                  <a:latin typeface="Public Sans Heavy"/>
                  <a:ea typeface="Public Sans Heavy"/>
                  <a:cs typeface="Public Sans Heavy"/>
                  <a:sym typeface="Public Sans Heavy"/>
                </a:rPr>
                <a:t>VIRTUAL</a:t>
              </a:r>
            </a:p>
          </p:txBody>
        </p:sp>
        <p:sp>
          <p:nvSpPr>
            <p:cNvPr id="20" name="TextBox 20"/>
            <p:cNvSpPr txBox="1"/>
            <p:nvPr/>
          </p:nvSpPr>
          <p:spPr>
            <a:xfrm>
              <a:off x="3361602" y="2223121"/>
              <a:ext cx="11779723" cy="2878846"/>
            </a:xfrm>
            <a:prstGeom prst="rect">
              <a:avLst/>
            </a:prstGeom>
          </p:spPr>
          <p:txBody>
            <a:bodyPr lIns="0" tIns="0" rIns="0" bIns="0" rtlCol="0" anchor="t">
              <a:spAutoFit/>
            </a:bodyPr>
            <a:lstStyle/>
            <a:p>
              <a:pPr algn="l">
                <a:lnSpc>
                  <a:spcPts val="15536"/>
                </a:lnSpc>
              </a:pPr>
              <a:r>
                <a:rPr lang="en-US" sz="15536" b="1" spc="-388">
                  <a:solidFill>
                    <a:srgbClr val="CCC9C9">
                      <a:alpha val="11373"/>
                    </a:srgbClr>
                  </a:solidFill>
                  <a:latin typeface="Public Sans Heavy"/>
                  <a:ea typeface="Public Sans Heavy"/>
                  <a:cs typeface="Public Sans Heavy"/>
                  <a:sym typeface="Public Sans Heavy"/>
                </a:rPr>
                <a:t>REALITY</a:t>
              </a:r>
            </a:p>
          </p:txBody>
        </p:sp>
        <p:sp>
          <p:nvSpPr>
            <p:cNvPr id="21" name="TextBox 21"/>
            <p:cNvSpPr txBox="1"/>
            <p:nvPr/>
          </p:nvSpPr>
          <p:spPr>
            <a:xfrm>
              <a:off x="5183418" y="4239310"/>
              <a:ext cx="13750406" cy="2878846"/>
            </a:xfrm>
            <a:prstGeom prst="rect">
              <a:avLst/>
            </a:prstGeom>
          </p:spPr>
          <p:txBody>
            <a:bodyPr lIns="0" tIns="0" rIns="0" bIns="0" rtlCol="0" anchor="t">
              <a:spAutoFit/>
            </a:bodyPr>
            <a:lstStyle/>
            <a:p>
              <a:pPr algn="l">
                <a:lnSpc>
                  <a:spcPts val="15536"/>
                </a:lnSpc>
              </a:pPr>
              <a:r>
                <a:rPr lang="en-US" sz="15536" b="1" spc="-388">
                  <a:solidFill>
                    <a:srgbClr val="CCC9C9">
                      <a:alpha val="11373"/>
                    </a:srgbClr>
                  </a:solidFill>
                  <a:latin typeface="Public Sans Heavy"/>
                  <a:ea typeface="Public Sans Heavy"/>
                  <a:cs typeface="Public Sans Heavy"/>
                  <a:sym typeface="Public Sans Heavy"/>
                </a:rPr>
                <a:t>LEARNING</a:t>
              </a:r>
            </a:p>
          </p:txBody>
        </p:sp>
      </p:grpSp>
      <p:sp>
        <p:nvSpPr>
          <p:cNvPr id="22" name="TextBox 22"/>
          <p:cNvSpPr txBox="1"/>
          <p:nvPr/>
        </p:nvSpPr>
        <p:spPr>
          <a:xfrm>
            <a:off x="17589869" y="249983"/>
            <a:ext cx="152400" cy="200025"/>
          </a:xfrm>
          <a:prstGeom prst="rect">
            <a:avLst/>
          </a:prstGeom>
        </p:spPr>
        <p:txBody>
          <a:bodyPr wrap="none" lIns="0" tIns="0" rIns="0" bIns="0" rtlCol="0" anchor="t">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645</Words>
  <Application>Microsoft Office PowerPoint</Application>
  <PresentationFormat>Custom</PresentationFormat>
  <Paragraphs>141</Paragraphs>
  <Slides>12</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12</vt:i4>
      </vt:variant>
    </vt:vector>
  </HeadingPairs>
  <TitlesOfParts>
    <vt:vector size="23" baseType="lpstr">
      <vt:lpstr>Public Sans Heavy</vt:lpstr>
      <vt:lpstr>Canva Sans Bold</vt:lpstr>
      <vt:lpstr>Canva Sans Italics</vt:lpstr>
      <vt:lpstr>Be Vietnam Ultra-Bold</vt:lpstr>
      <vt:lpstr>Canva Sans</vt:lpstr>
      <vt:lpstr>Be Vietnam Italics</vt:lpstr>
      <vt:lpstr>Arial</vt:lpstr>
      <vt:lpstr>Be Vietnam</vt:lpstr>
      <vt:lpstr>Be Vietnam Ultra-Bold Italics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Grey Modern Virtual Reality Presentation</dc:title>
  <cp:lastModifiedBy>01-134222-028</cp:lastModifiedBy>
  <cp:revision>2</cp:revision>
  <dcterms:created xsi:type="dcterms:W3CDTF">2006-08-16T00:00:00Z</dcterms:created>
  <dcterms:modified xsi:type="dcterms:W3CDTF">2026-07-02T14:10:02Z</dcterms:modified>
  <dc:identifier>DAHHR02-3fU</dc:identifier>
</cp:coreProperties>
</file>